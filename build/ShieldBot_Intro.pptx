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52635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I'm Jonathan Lee, and I'm here with Sourav Chandra. Our project is Shield Bot: red-teaming for Snowflake Cortex Agents.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core problem. The customers we've seen build Cortex Agents, but they aren't sure how secure those agents really are.</a:t>
            </a:r>
          </a:p>
          <a:p>
            <a:endParaRPr/>
          </a:p>
          <a:p>
            <a:r>
              <a:t>These agents run SQL, search documents and call procedures with real privileges. Trying a few prompts by hand doesn't tell you what an agent will do when someone deliberately tries to misuse it, whether that's overriding its instructions, pulling personal data or going beyond the user's role. We need rigorous testing against the actual deployed agent, not a simulation of how we hope it behaves. A completed scan is evidence for that scope, not security certification.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Shieldbot, Testbot and Fixbot are the SnowBots chat interface; the named category, summary and remediation agents below are deployed Cortex Agents in AGENTSHIELD_DB.ORCH.</a:t>
            </a:r>
          </a:p>
          <a:p>
            <a:endParaRPr/>
          </a:p>
          <a:p>
            <a:r>
              <a:t>Shieldbot collects the target, categories and rigor, then hands off to Testbot. Testbot launches the campaign API. The reference table is AGENTSHIELD_DB.CORE.ATTACK_TEMPLATES: 120 security references, 15 per category, plus one benign baseline reference. References are not the test count. Each selected category generates 2 x rigor cases using the target's business context. Cases are validated and saved before execution for exact retests.</a:t>
            </a:r>
          </a:p>
          <a:p>
            <a:endParaRPr/>
          </a:p>
          <a:p>
            <a:r>
              <a:t>Four shared task workers claim category jobs. Each worker invokes the relevant CATEGORY_* agent to generate cases, then executes the saved cases sequentially through a persona-owned runner against the real target. Generation and execution occur within each category job; the diagram separates responsibilities, not global synchronization stages. These are existing specialist agents, not newly created agents for every scan. The four worker slots are shared across targets. Eight categories does not mean eight concurrent workers.</a:t>
            </a:r>
          </a:p>
          <a:p>
            <a:endParaRPr/>
          </a:p>
          <a:p>
            <a:r>
              <a:t>Responses, tool activity and SQL are retained. Deterministic checks and a structured judge produce verdicts; missing evidence stays inconclusive. SUMMARIZER orders validated finding IDs, while a deterministic renderer builds the report. REMEDIATOR selects eligible reviewed fix recipes; it cannot author arbitrary SQL or apply changes. Fixbot offers selections and a separate human approval for each agent. Saved cases support exact post-fix retests.</a:t>
            </a:r>
          </a:p>
          <a:p>
            <a:endParaRPr/>
          </a:p>
          <a:p>
            <a:r>
              <a:t>AGENTSHIELD is also deployed as the standalone Cortex coordination entry point. The current three-Snowbot handoff uses the campaign API directly, so AGENTSHIELD is not shown as a required hop. Live agent inventory and template counts were checked in demo sandbox ZSA35582, not the connected Snowhouse account. Worker behavior is grounded in project implementation. This is a sandbox prototype, not a security certification.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C1623"/>
        </a:solidFill>
        <a:effectLst/>
      </p:bgPr>
    </p:bg>
    <p:spTree>
      <p:nvGrpSpPr>
        <p:cNvPr id="1" name=""/>
        <p:cNvGrpSpPr/>
        <p:nvPr/>
      </p:nvGrpSpPr>
      <p:grpSpPr>
        <a:xfrm>
          <a:off x="0" y="0"/>
          <a:ext cx="0" cy="0"/>
          <a:chOff x="0" y="0"/>
          <a:chExt cx="0" cy="0"/>
        </a:xfrm>
      </p:grpSpPr>
      <p:sp>
        <p:nvSpPr>
          <p:cNvPr id="2" name="Oval 1"/>
          <p:cNvSpPr/>
          <p:nvPr/>
        </p:nvSpPr>
        <p:spPr>
          <a:xfrm>
            <a:off x="11094415" y="6126479"/>
            <a:ext cx="2560320" cy="2560320"/>
          </a:xfrm>
          <a:prstGeom prst="ellipse">
            <a:avLst/>
          </a:prstGeom>
          <a:noFill/>
          <a:ln w="19050">
            <a:solidFill>
              <a:srgbClr val="1A2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271455" y="5303520"/>
            <a:ext cx="4206240" cy="4206240"/>
          </a:xfrm>
          <a:prstGeom prst="ellipse">
            <a:avLst/>
          </a:prstGeom>
          <a:noFill/>
          <a:ln w="19050">
            <a:solidFill>
              <a:srgbClr val="1A2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448495" y="4480559"/>
            <a:ext cx="5852160" cy="5852160"/>
          </a:xfrm>
          <a:prstGeom prst="ellipse">
            <a:avLst/>
          </a:prstGeom>
          <a:noFill/>
          <a:ln w="19050">
            <a:solidFill>
              <a:srgbClr val="1A2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828800" y="-1097280"/>
            <a:ext cx="2560320" cy="2560320"/>
          </a:xfrm>
          <a:prstGeom prst="ellipse">
            <a:avLst/>
          </a:prstGeom>
          <a:noFill/>
          <a:ln w="12700">
            <a:solidFill>
              <a:srgbClr val="1A2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560320" y="-1828800"/>
            <a:ext cx="4023360" cy="4023360"/>
          </a:xfrm>
          <a:prstGeom prst="ellipse">
            <a:avLst/>
          </a:prstGeom>
          <a:noFill/>
          <a:ln w="12700">
            <a:solidFill>
              <a:srgbClr val="1A2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72084"/>
            <a:ext cx="82296" cy="6185916"/>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0"/>
            <a:ext cx="12191695" cy="658368"/>
          </a:xfrm>
          <a:prstGeom prst="rect">
            <a:avLst/>
          </a:prstGeom>
          <a:solidFill>
            <a:srgbClr val="122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58368"/>
            <a:ext cx="12191695" cy="13716"/>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77240" y="182880"/>
            <a:ext cx="292608" cy="292608"/>
          </a:xfrm>
          <a:prstGeom prst="roundRect">
            <a:avLst/>
          </a:prstGeom>
          <a:solidFill>
            <a:srgbClr val="142F44"/>
          </a:solidFill>
          <a:ln w="254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82880"/>
            <a:ext cx="292608" cy="292608"/>
          </a:xfrm>
          <a:prstGeom prst="rect">
            <a:avLst/>
          </a:prstGeom>
          <a:noFill/>
        </p:spPr>
        <p:txBody>
          <a:bodyPr wrap="square" lIns="0" tIns="0" rIns="0" bIns="0" anchor="ctr">
            <a:spAutoFit/>
          </a:bodyPr>
          <a:lstStyle/>
          <a:p>
            <a:pPr algn="ctr"/>
            <a:r>
              <a:rPr sz="1200" b="1">
                <a:solidFill>
                  <a:srgbClr val="60C7F0"/>
                </a:solidFill>
                <a:latin typeface="Helvetica Neue"/>
              </a:rPr>
              <a:t>S</a:t>
            </a:r>
          </a:p>
        </p:txBody>
      </p:sp>
      <p:sp>
        <p:nvSpPr>
          <p:cNvPr id="12" name="TextBox 11"/>
          <p:cNvSpPr txBox="1"/>
          <p:nvPr/>
        </p:nvSpPr>
        <p:spPr>
          <a:xfrm>
            <a:off x="1188720" y="182880"/>
            <a:ext cx="2743200" cy="292608"/>
          </a:xfrm>
          <a:prstGeom prst="rect">
            <a:avLst/>
          </a:prstGeom>
          <a:noFill/>
        </p:spPr>
        <p:txBody>
          <a:bodyPr wrap="square" lIns="0" tIns="0" rIns="0" bIns="0" anchor="ctr">
            <a:spAutoFit/>
          </a:bodyPr>
          <a:lstStyle/>
          <a:p>
            <a:pPr algn="l"/>
            <a:r>
              <a:rPr sz="1100" b="1" spc="120">
                <a:solidFill>
                  <a:srgbClr val="EDF5FF"/>
                </a:solidFill>
                <a:latin typeface="Helvetica Neue"/>
              </a:rPr>
              <a:t>SHIELD BOT</a:t>
            </a:r>
          </a:p>
        </p:txBody>
      </p:sp>
      <p:sp>
        <p:nvSpPr>
          <p:cNvPr id="13" name="TextBox 12"/>
          <p:cNvSpPr txBox="1"/>
          <p:nvPr/>
        </p:nvSpPr>
        <p:spPr>
          <a:xfrm>
            <a:off x="6842455" y="182880"/>
            <a:ext cx="4572000" cy="292608"/>
          </a:xfrm>
          <a:prstGeom prst="rect">
            <a:avLst/>
          </a:prstGeom>
          <a:noFill/>
        </p:spPr>
        <p:txBody>
          <a:bodyPr wrap="square" lIns="0" tIns="0" rIns="0" bIns="0" anchor="ctr">
            <a:spAutoFit/>
          </a:bodyPr>
          <a:lstStyle/>
          <a:p>
            <a:pPr algn="r"/>
            <a:r>
              <a:rPr sz="1100" b="0">
                <a:solidFill>
                  <a:srgbClr val="A8BBCD"/>
                </a:solidFill>
                <a:latin typeface="Helvetica Neue"/>
              </a:rPr>
              <a:t>Snowflake Cortex Agents  ·  Demo</a:t>
            </a:r>
          </a:p>
        </p:txBody>
      </p:sp>
      <p:sp>
        <p:nvSpPr>
          <p:cNvPr id="14" name="TextBox 13"/>
          <p:cNvSpPr txBox="1"/>
          <p:nvPr/>
        </p:nvSpPr>
        <p:spPr>
          <a:xfrm>
            <a:off x="777240" y="2103120"/>
            <a:ext cx="7315200" cy="1371600"/>
          </a:xfrm>
          <a:prstGeom prst="rect">
            <a:avLst/>
          </a:prstGeom>
          <a:noFill/>
        </p:spPr>
        <p:txBody>
          <a:bodyPr wrap="square" lIns="0" tIns="0" rIns="0" bIns="0" anchor="t">
            <a:spAutoFit/>
          </a:bodyPr>
          <a:lstStyle/>
          <a:p>
            <a:pPr algn="l"/>
            <a:r>
              <a:rPr sz="9600" b="1">
                <a:solidFill>
                  <a:srgbClr val="EDF5FF"/>
                </a:solidFill>
                <a:latin typeface="Helvetica Neue"/>
              </a:rPr>
              <a:t>Shield </a:t>
            </a:r>
            <a:r>
              <a:rPr sz="9600" b="1">
                <a:solidFill>
                  <a:srgbClr val="29B5E8"/>
                </a:solidFill>
                <a:latin typeface="Helvetica Neue"/>
              </a:rPr>
              <a:t>Bot</a:t>
            </a:r>
          </a:p>
        </p:txBody>
      </p:sp>
      <p:sp>
        <p:nvSpPr>
          <p:cNvPr id="15" name="Rounded Rectangle 14"/>
          <p:cNvSpPr/>
          <p:nvPr/>
        </p:nvSpPr>
        <p:spPr>
          <a:xfrm>
            <a:off x="777240" y="3703320"/>
            <a:ext cx="5623560" cy="475488"/>
          </a:xfrm>
          <a:prstGeom prst="roundRect">
            <a:avLst>
              <a:gd name="adj" fmla="val 50000"/>
            </a:avLst>
          </a:prstGeom>
          <a:solidFill>
            <a:srgbClr val="142F44"/>
          </a:solidFill>
          <a:ln w="15875">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3703320"/>
            <a:ext cx="5623560" cy="475488"/>
          </a:xfrm>
          <a:prstGeom prst="rect">
            <a:avLst/>
          </a:prstGeom>
          <a:noFill/>
        </p:spPr>
        <p:txBody>
          <a:bodyPr wrap="square" lIns="0" tIns="0" rIns="0" bIns="0" anchor="ctr">
            <a:spAutoFit/>
          </a:bodyPr>
          <a:lstStyle/>
          <a:p>
            <a:pPr algn="ctr"/>
            <a:r>
              <a:rPr sz="1300" b="1" spc="180">
                <a:solidFill>
                  <a:srgbClr val="60C7F0"/>
                </a:solidFill>
                <a:latin typeface="Helvetica Neue"/>
              </a:rPr>
              <a:t>RED-TEAMING FOR SNOWFLAKE CORTEX AGENTS</a:t>
            </a:r>
          </a:p>
        </p:txBody>
      </p:sp>
      <p:sp>
        <p:nvSpPr>
          <p:cNvPr id="17" name="Rectangle 16"/>
          <p:cNvSpPr/>
          <p:nvPr/>
        </p:nvSpPr>
        <p:spPr>
          <a:xfrm>
            <a:off x="8001000" y="1417320"/>
            <a:ext cx="13716" cy="4343400"/>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987283" y="1417320"/>
            <a:ext cx="41148" cy="64008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412480" y="1417320"/>
            <a:ext cx="5486400" cy="274320"/>
          </a:xfrm>
          <a:prstGeom prst="rect">
            <a:avLst/>
          </a:prstGeom>
          <a:noFill/>
        </p:spPr>
        <p:txBody>
          <a:bodyPr wrap="square" lIns="0" tIns="0" rIns="0" bIns="0" anchor="t">
            <a:spAutoFit/>
          </a:bodyPr>
          <a:lstStyle/>
          <a:p>
            <a:pPr algn="l"/>
            <a:r>
              <a:rPr sz="1100" b="1" spc="200">
                <a:solidFill>
                  <a:srgbClr val="60C7F0"/>
                </a:solidFill>
                <a:latin typeface="Helvetica Neue"/>
              </a:rPr>
              <a:t>THE TEAM</a:t>
            </a:r>
          </a:p>
        </p:txBody>
      </p:sp>
      <p:sp>
        <p:nvSpPr>
          <p:cNvPr id="20" name="Rounded Rectangle 19"/>
          <p:cNvSpPr/>
          <p:nvPr/>
        </p:nvSpPr>
        <p:spPr>
          <a:xfrm>
            <a:off x="8412480" y="1828800"/>
            <a:ext cx="3017520" cy="841248"/>
          </a:xfrm>
          <a:prstGeom prst="roundRect">
            <a:avLst>
              <a:gd name="adj" fmla="val 12000"/>
            </a:avLst>
          </a:prstGeom>
          <a:solidFill>
            <a:srgbClr val="122132"/>
          </a:solidFill>
          <a:ln w="12700">
            <a:solidFill>
              <a:srgbClr val="3044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412480" y="2011680"/>
            <a:ext cx="45720" cy="475488"/>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641080" y="1975104"/>
            <a:ext cx="548640" cy="548640"/>
          </a:xfrm>
          <a:prstGeom prst="ellipse">
            <a:avLst/>
          </a:prstGeom>
          <a:solidFill>
            <a:srgbClr val="11567F"/>
          </a:solidFill>
          <a:ln w="381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41080" y="1975104"/>
            <a:ext cx="548640" cy="548640"/>
          </a:xfrm>
          <a:prstGeom prst="rect">
            <a:avLst/>
          </a:prstGeom>
          <a:noFill/>
        </p:spPr>
        <p:txBody>
          <a:bodyPr wrap="square" lIns="0" tIns="0" rIns="0" bIns="0" anchor="ctr">
            <a:spAutoFit/>
          </a:bodyPr>
          <a:lstStyle/>
          <a:p>
            <a:pPr algn="ctr"/>
            <a:r>
              <a:rPr sz="1500" b="1">
                <a:solidFill>
                  <a:srgbClr val="EDF5FF"/>
                </a:solidFill>
                <a:latin typeface="Helvetica Neue"/>
              </a:rPr>
              <a:t>JL</a:t>
            </a:r>
          </a:p>
        </p:txBody>
      </p:sp>
      <p:sp>
        <p:nvSpPr>
          <p:cNvPr id="24" name="TextBox 23"/>
          <p:cNvSpPr txBox="1"/>
          <p:nvPr/>
        </p:nvSpPr>
        <p:spPr>
          <a:xfrm>
            <a:off x="9372600" y="1828800"/>
            <a:ext cx="2011680" cy="841248"/>
          </a:xfrm>
          <a:prstGeom prst="rect">
            <a:avLst/>
          </a:prstGeom>
          <a:noFill/>
        </p:spPr>
        <p:txBody>
          <a:bodyPr wrap="square" lIns="0" tIns="0" rIns="0" bIns="0" anchor="ctr">
            <a:spAutoFit/>
          </a:bodyPr>
          <a:lstStyle/>
          <a:p>
            <a:pPr algn="l"/>
            <a:r>
              <a:rPr sz="1900" b="1">
                <a:solidFill>
                  <a:srgbClr val="EDF5FF"/>
                </a:solidFill>
                <a:latin typeface="Helvetica Neue"/>
              </a:rPr>
              <a:t>Jonathan Lee</a:t>
            </a:r>
          </a:p>
        </p:txBody>
      </p:sp>
      <p:sp>
        <p:nvSpPr>
          <p:cNvPr id="25" name="Rounded Rectangle 24"/>
          <p:cNvSpPr/>
          <p:nvPr/>
        </p:nvSpPr>
        <p:spPr>
          <a:xfrm>
            <a:off x="8412480" y="2852928"/>
            <a:ext cx="3017520" cy="841248"/>
          </a:xfrm>
          <a:prstGeom prst="roundRect">
            <a:avLst>
              <a:gd name="adj" fmla="val 12000"/>
            </a:avLst>
          </a:prstGeom>
          <a:solidFill>
            <a:srgbClr val="122132"/>
          </a:solidFill>
          <a:ln w="12700">
            <a:solidFill>
              <a:srgbClr val="3044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412480" y="3035808"/>
            <a:ext cx="45720" cy="475488"/>
          </a:xfrm>
          <a:prstGeom prst="rect">
            <a:avLst/>
          </a:prstGeom>
          <a:solidFill>
            <a:srgbClr val="B9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641080" y="2999232"/>
            <a:ext cx="548640" cy="548640"/>
          </a:xfrm>
          <a:prstGeom prst="ellipse">
            <a:avLst/>
          </a:prstGeom>
          <a:solidFill>
            <a:srgbClr val="11567F"/>
          </a:solidFill>
          <a:ln w="38100">
            <a:solidFill>
              <a:srgbClr val="B9A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641080" y="2999232"/>
            <a:ext cx="548640" cy="548640"/>
          </a:xfrm>
          <a:prstGeom prst="rect">
            <a:avLst/>
          </a:prstGeom>
          <a:noFill/>
        </p:spPr>
        <p:txBody>
          <a:bodyPr wrap="square" lIns="0" tIns="0" rIns="0" bIns="0" anchor="ctr">
            <a:spAutoFit/>
          </a:bodyPr>
          <a:lstStyle/>
          <a:p>
            <a:pPr algn="ctr"/>
            <a:r>
              <a:rPr sz="1500" b="1">
                <a:solidFill>
                  <a:srgbClr val="EDF5FF"/>
                </a:solidFill>
                <a:latin typeface="Helvetica Neue"/>
              </a:rPr>
              <a:t>SC</a:t>
            </a:r>
          </a:p>
        </p:txBody>
      </p:sp>
      <p:sp>
        <p:nvSpPr>
          <p:cNvPr id="29" name="TextBox 28"/>
          <p:cNvSpPr txBox="1"/>
          <p:nvPr/>
        </p:nvSpPr>
        <p:spPr>
          <a:xfrm>
            <a:off x="9372600" y="2852928"/>
            <a:ext cx="2011680" cy="841248"/>
          </a:xfrm>
          <a:prstGeom prst="rect">
            <a:avLst/>
          </a:prstGeom>
          <a:noFill/>
        </p:spPr>
        <p:txBody>
          <a:bodyPr wrap="square" lIns="0" tIns="0" rIns="0" bIns="0" anchor="ctr">
            <a:spAutoFit/>
          </a:bodyPr>
          <a:lstStyle/>
          <a:p>
            <a:pPr algn="l"/>
            <a:r>
              <a:rPr sz="1900" b="1">
                <a:solidFill>
                  <a:srgbClr val="EDF5FF"/>
                </a:solidFill>
                <a:latin typeface="Helvetica Neue"/>
              </a:rPr>
              <a:t>Sourav Chandra</a:t>
            </a:r>
          </a:p>
        </p:txBody>
      </p:sp>
      <p:sp>
        <p:nvSpPr>
          <p:cNvPr id="30" name="Oval 29"/>
          <p:cNvSpPr/>
          <p:nvPr/>
        </p:nvSpPr>
        <p:spPr>
          <a:xfrm>
            <a:off x="9057131" y="3959352"/>
            <a:ext cx="1728216" cy="1728216"/>
          </a:xfrm>
          <a:prstGeom prst="ellipse">
            <a:avLst/>
          </a:prstGeom>
          <a:noFill/>
          <a:ln w="15875">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hackathon_logo.png"/>
          <p:cNvPicPr>
            <a:picLocks noChangeAspect="1"/>
          </p:cNvPicPr>
          <p:nvPr/>
        </p:nvPicPr>
        <p:blipFill>
          <a:blip r:embed="rId3"/>
          <a:stretch>
            <a:fillRect/>
          </a:stretch>
        </p:blipFill>
        <p:spPr>
          <a:xfrm>
            <a:off x="9166859" y="4069080"/>
            <a:ext cx="1508760" cy="1508760"/>
          </a:xfrm>
          <a:prstGeom prst="rect">
            <a:avLst/>
          </a:prstGeom>
        </p:spPr>
      </p:pic>
      <p:sp>
        <p:nvSpPr>
          <p:cNvPr id="32" name="Rectangle 31"/>
          <p:cNvSpPr/>
          <p:nvPr/>
        </p:nvSpPr>
        <p:spPr>
          <a:xfrm>
            <a:off x="777240" y="6263640"/>
            <a:ext cx="10637215" cy="13716"/>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777240" y="6252667"/>
            <a:ext cx="1097280" cy="36576"/>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77240" y="6382512"/>
            <a:ext cx="5486400" cy="274320"/>
          </a:xfrm>
          <a:prstGeom prst="rect">
            <a:avLst/>
          </a:prstGeom>
          <a:noFill/>
        </p:spPr>
        <p:txBody>
          <a:bodyPr wrap="square" lIns="0" tIns="0" rIns="0" bIns="0" anchor="t">
            <a:spAutoFit/>
          </a:bodyPr>
          <a:lstStyle/>
          <a:p>
            <a:pPr algn="l"/>
            <a:r>
              <a:rPr sz="1000" b="0" spc="100">
                <a:solidFill>
                  <a:srgbClr val="A8BBCD"/>
                </a:solidFill>
                <a:latin typeface="Helvetica Neue"/>
              </a:rPr>
              <a:t>DEMO RECORDING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C1623"/>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22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58368"/>
            <a:ext cx="12191695" cy="13716"/>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77240" y="182880"/>
            <a:ext cx="292608" cy="292608"/>
          </a:xfrm>
          <a:prstGeom prst="roundRect">
            <a:avLst/>
          </a:prstGeom>
          <a:solidFill>
            <a:srgbClr val="142F44"/>
          </a:solidFill>
          <a:ln w="254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82880"/>
            <a:ext cx="292608" cy="292608"/>
          </a:xfrm>
          <a:prstGeom prst="rect">
            <a:avLst/>
          </a:prstGeom>
          <a:noFill/>
        </p:spPr>
        <p:txBody>
          <a:bodyPr wrap="square" lIns="0" tIns="0" rIns="0" bIns="0" anchor="ctr">
            <a:spAutoFit/>
          </a:bodyPr>
          <a:lstStyle/>
          <a:p>
            <a:pPr algn="ctr"/>
            <a:r>
              <a:rPr sz="1200" b="1">
                <a:solidFill>
                  <a:srgbClr val="60C7F0"/>
                </a:solidFill>
                <a:latin typeface="Helvetica Neue"/>
              </a:rPr>
              <a:t>S</a:t>
            </a:r>
          </a:p>
        </p:txBody>
      </p:sp>
      <p:sp>
        <p:nvSpPr>
          <p:cNvPr id="6" name="TextBox 5"/>
          <p:cNvSpPr txBox="1"/>
          <p:nvPr/>
        </p:nvSpPr>
        <p:spPr>
          <a:xfrm>
            <a:off x="1188720" y="182880"/>
            <a:ext cx="2743200" cy="292608"/>
          </a:xfrm>
          <a:prstGeom prst="rect">
            <a:avLst/>
          </a:prstGeom>
          <a:noFill/>
        </p:spPr>
        <p:txBody>
          <a:bodyPr wrap="square" lIns="0" tIns="0" rIns="0" bIns="0" anchor="ctr">
            <a:spAutoFit/>
          </a:bodyPr>
          <a:lstStyle/>
          <a:p>
            <a:pPr algn="l"/>
            <a:r>
              <a:rPr sz="1100" b="1" spc="120">
                <a:solidFill>
                  <a:srgbClr val="EDF5FF"/>
                </a:solidFill>
                <a:latin typeface="Helvetica Neue"/>
              </a:rPr>
              <a:t>SHIELD BOT</a:t>
            </a:r>
          </a:p>
        </p:txBody>
      </p:sp>
      <p:pic>
        <p:nvPicPr>
          <p:cNvPr id="7" name="Picture 6" descr="hackathon_logo.png"/>
          <p:cNvPicPr>
            <a:picLocks noChangeAspect="1"/>
          </p:cNvPicPr>
          <p:nvPr/>
        </p:nvPicPr>
        <p:blipFill>
          <a:blip r:embed="rId3"/>
          <a:stretch>
            <a:fillRect/>
          </a:stretch>
        </p:blipFill>
        <p:spPr>
          <a:xfrm>
            <a:off x="10938967" y="91440"/>
            <a:ext cx="475488" cy="475488"/>
          </a:xfrm>
          <a:prstGeom prst="rect">
            <a:avLst/>
          </a:prstGeom>
        </p:spPr>
      </p:pic>
      <p:sp>
        <p:nvSpPr>
          <p:cNvPr id="8" name="Rectangle 7"/>
          <p:cNvSpPr/>
          <p:nvPr/>
        </p:nvSpPr>
        <p:spPr>
          <a:xfrm>
            <a:off x="10710367" y="182880"/>
            <a:ext cx="13716" cy="292608"/>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55487" y="182880"/>
            <a:ext cx="4572000" cy="292608"/>
          </a:xfrm>
          <a:prstGeom prst="rect">
            <a:avLst/>
          </a:prstGeom>
          <a:noFill/>
        </p:spPr>
        <p:txBody>
          <a:bodyPr wrap="square" lIns="0" tIns="0" rIns="0" bIns="0" anchor="ctr">
            <a:spAutoFit/>
          </a:bodyPr>
          <a:lstStyle/>
          <a:p>
            <a:pPr algn="r"/>
            <a:r>
              <a:rPr sz="1100" b="0">
                <a:solidFill>
                  <a:srgbClr val="A8BBCD"/>
                </a:solidFill>
                <a:latin typeface="Helvetica Neue"/>
              </a:rPr>
              <a:t>The problem</a:t>
            </a:r>
          </a:p>
        </p:txBody>
      </p:sp>
      <p:sp>
        <p:nvSpPr>
          <p:cNvPr id="10" name="TextBox 9"/>
          <p:cNvSpPr txBox="1"/>
          <p:nvPr/>
        </p:nvSpPr>
        <p:spPr>
          <a:xfrm>
            <a:off x="777240" y="1389888"/>
            <a:ext cx="1554480" cy="731520"/>
          </a:xfrm>
          <a:prstGeom prst="rect">
            <a:avLst/>
          </a:prstGeom>
          <a:noFill/>
        </p:spPr>
        <p:txBody>
          <a:bodyPr wrap="square" lIns="0" tIns="0" rIns="0" bIns="0" anchor="t">
            <a:spAutoFit/>
          </a:bodyPr>
          <a:lstStyle/>
          <a:p>
            <a:pPr algn="l"/>
            <a:r>
              <a:rPr sz="4400" b="1">
                <a:solidFill>
                  <a:srgbClr val="29B5E8"/>
                </a:solidFill>
                <a:latin typeface="Helvetica Neue"/>
              </a:rPr>
              <a:t>01</a:t>
            </a:r>
          </a:p>
        </p:txBody>
      </p:sp>
      <p:sp>
        <p:nvSpPr>
          <p:cNvPr id="11" name="TextBox 10"/>
          <p:cNvSpPr txBox="1"/>
          <p:nvPr/>
        </p:nvSpPr>
        <p:spPr>
          <a:xfrm>
            <a:off x="777240" y="2121408"/>
            <a:ext cx="1645920" cy="274320"/>
          </a:xfrm>
          <a:prstGeom prst="rect">
            <a:avLst/>
          </a:prstGeom>
          <a:noFill/>
        </p:spPr>
        <p:txBody>
          <a:bodyPr wrap="square" lIns="0" tIns="0" rIns="0" bIns="0" anchor="t">
            <a:spAutoFit/>
          </a:bodyPr>
          <a:lstStyle/>
          <a:p>
            <a:pPr algn="l"/>
            <a:r>
              <a:rPr sz="1100" b="1" spc="200">
                <a:solidFill>
                  <a:srgbClr val="A8BBCD"/>
                </a:solidFill>
                <a:latin typeface="Helvetica Neue"/>
              </a:rPr>
              <a:t>PROBLEM</a:t>
            </a:r>
          </a:p>
        </p:txBody>
      </p:sp>
      <p:sp>
        <p:nvSpPr>
          <p:cNvPr id="12" name="Rectangle 11"/>
          <p:cNvSpPr/>
          <p:nvPr/>
        </p:nvSpPr>
        <p:spPr>
          <a:xfrm>
            <a:off x="2377440" y="1463040"/>
            <a:ext cx="13716" cy="3840480"/>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363724" y="1463040"/>
            <a:ext cx="41148" cy="73152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743200" y="1417320"/>
            <a:ext cx="8671255" cy="1243161"/>
          </a:xfrm>
          <a:prstGeom prst="rect">
            <a:avLst/>
          </a:prstGeom>
          <a:noFill/>
        </p:spPr>
        <p:txBody>
          <a:bodyPr wrap="square" lIns="0" tIns="0" rIns="0" bIns="0" anchor="t">
            <a:spAutoFit/>
          </a:bodyPr>
          <a:lstStyle/>
          <a:p>
            <a:pPr algn="l">
              <a:lnSpc>
                <a:spcPct val="105000"/>
              </a:lnSpc>
            </a:pPr>
            <a:r>
              <a:rPr sz="4000" b="1" dirty="0">
                <a:solidFill>
                  <a:srgbClr val="EDF5FF"/>
                </a:solidFill>
                <a:latin typeface="Helvetica Neue"/>
              </a:rPr>
              <a:t>Customers aren't sure the agents they build are secure.</a:t>
            </a:r>
          </a:p>
        </p:txBody>
      </p:sp>
      <p:sp>
        <p:nvSpPr>
          <p:cNvPr id="15" name="TextBox 14"/>
          <p:cNvSpPr txBox="1"/>
          <p:nvPr/>
        </p:nvSpPr>
        <p:spPr>
          <a:xfrm>
            <a:off x="2743200" y="3657600"/>
            <a:ext cx="8671255" cy="868680"/>
          </a:xfrm>
          <a:prstGeom prst="rect">
            <a:avLst/>
          </a:prstGeom>
          <a:noFill/>
        </p:spPr>
        <p:txBody>
          <a:bodyPr wrap="square" lIns="0" tIns="0" rIns="0" bIns="0" anchor="t">
            <a:spAutoFit/>
          </a:bodyPr>
          <a:lstStyle/>
          <a:p>
            <a:pPr algn="l"/>
            <a:r>
              <a:rPr sz="3000" b="1">
                <a:solidFill>
                  <a:srgbClr val="29B5E8"/>
                </a:solidFill>
                <a:latin typeface="Helvetica Neue"/>
              </a:rPr>
              <a:t>That takes rigorous testing to answer.</a:t>
            </a:r>
          </a:p>
        </p:txBody>
      </p:sp>
      <p:sp>
        <p:nvSpPr>
          <p:cNvPr id="16" name="Rounded Rectangle 15"/>
          <p:cNvSpPr/>
          <p:nvPr/>
        </p:nvSpPr>
        <p:spPr>
          <a:xfrm>
            <a:off x="2743200" y="4892040"/>
            <a:ext cx="1993391" cy="384048"/>
          </a:xfrm>
          <a:prstGeom prst="roundRect">
            <a:avLst>
              <a:gd name="adj" fmla="val 50000"/>
            </a:avLst>
          </a:prstGeom>
          <a:solidFill>
            <a:srgbClr val="142F44"/>
          </a:solidFill>
          <a:ln w="12700">
            <a:solidFill>
              <a:srgbClr val="60C7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43200" y="4892040"/>
            <a:ext cx="1993391" cy="384048"/>
          </a:xfrm>
          <a:prstGeom prst="rect">
            <a:avLst/>
          </a:prstGeom>
          <a:noFill/>
        </p:spPr>
        <p:txBody>
          <a:bodyPr wrap="square" lIns="0" tIns="0" rIns="0" bIns="0" anchor="ctr">
            <a:spAutoFit/>
          </a:bodyPr>
          <a:lstStyle/>
          <a:p>
            <a:pPr algn="ctr"/>
            <a:r>
              <a:rPr sz="1200" b="1">
                <a:solidFill>
                  <a:srgbClr val="60C7F0"/>
                </a:solidFill>
                <a:latin typeface="Helvetica Neue"/>
              </a:rPr>
              <a:t>Real SQL &amp; tools</a:t>
            </a:r>
          </a:p>
        </p:txBody>
      </p:sp>
      <p:sp>
        <p:nvSpPr>
          <p:cNvPr id="18" name="Rounded Rectangle 17"/>
          <p:cNvSpPr/>
          <p:nvPr/>
        </p:nvSpPr>
        <p:spPr>
          <a:xfrm>
            <a:off x="4919472" y="4892040"/>
            <a:ext cx="1897380" cy="384048"/>
          </a:xfrm>
          <a:prstGeom prst="roundRect">
            <a:avLst>
              <a:gd name="adj" fmla="val 50000"/>
            </a:avLst>
          </a:prstGeom>
          <a:solidFill>
            <a:srgbClr val="28243E"/>
          </a:solidFill>
          <a:ln w="12700">
            <a:solidFill>
              <a:srgbClr val="B9A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919472" y="4892040"/>
            <a:ext cx="1897380" cy="384048"/>
          </a:xfrm>
          <a:prstGeom prst="rect">
            <a:avLst/>
          </a:prstGeom>
          <a:noFill/>
        </p:spPr>
        <p:txBody>
          <a:bodyPr wrap="square" lIns="0" tIns="0" rIns="0" bIns="0" anchor="ctr">
            <a:spAutoFit/>
          </a:bodyPr>
          <a:lstStyle/>
          <a:p>
            <a:pPr algn="ctr"/>
            <a:r>
              <a:rPr sz="1200" b="1">
                <a:solidFill>
                  <a:srgbClr val="B9A8FF"/>
                </a:solidFill>
                <a:latin typeface="Helvetica Neue"/>
              </a:rPr>
              <a:t>Real privileges</a:t>
            </a:r>
          </a:p>
        </p:txBody>
      </p:sp>
      <p:sp>
        <p:nvSpPr>
          <p:cNvPr id="20" name="Rounded Rectangle 19"/>
          <p:cNvSpPr/>
          <p:nvPr/>
        </p:nvSpPr>
        <p:spPr>
          <a:xfrm>
            <a:off x="6999732" y="4892040"/>
            <a:ext cx="2569464" cy="384048"/>
          </a:xfrm>
          <a:prstGeom prst="roundRect">
            <a:avLst>
              <a:gd name="adj" fmla="val 50000"/>
            </a:avLst>
          </a:prstGeom>
          <a:solidFill>
            <a:srgbClr val="12332F"/>
          </a:solidFill>
          <a:ln w="12700">
            <a:solidFill>
              <a:srgbClr val="61D2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99732" y="4892040"/>
            <a:ext cx="2569464" cy="384048"/>
          </a:xfrm>
          <a:prstGeom prst="rect">
            <a:avLst/>
          </a:prstGeom>
          <a:noFill/>
        </p:spPr>
        <p:txBody>
          <a:bodyPr wrap="square" lIns="0" tIns="0" rIns="0" bIns="0" anchor="ctr">
            <a:spAutoFit/>
          </a:bodyPr>
          <a:lstStyle/>
          <a:p>
            <a:pPr algn="ctr"/>
            <a:r>
              <a:rPr sz="1200" b="1">
                <a:solidFill>
                  <a:srgbClr val="61D2BD"/>
                </a:solidFill>
                <a:latin typeface="Helvetica Neue"/>
              </a:rPr>
              <a:t>Manual prompts miss it</a:t>
            </a:r>
          </a:p>
        </p:txBody>
      </p:sp>
      <p:sp>
        <p:nvSpPr>
          <p:cNvPr id="22" name="Rectangle 21"/>
          <p:cNvSpPr/>
          <p:nvPr/>
        </p:nvSpPr>
        <p:spPr>
          <a:xfrm>
            <a:off x="777240" y="6263640"/>
            <a:ext cx="10637215" cy="13716"/>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77240" y="6252667"/>
            <a:ext cx="1097280" cy="36576"/>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7240" y="6382512"/>
            <a:ext cx="5486400" cy="274320"/>
          </a:xfrm>
          <a:prstGeom prst="rect">
            <a:avLst/>
          </a:prstGeom>
          <a:noFill/>
        </p:spPr>
        <p:txBody>
          <a:bodyPr wrap="square" lIns="0" tIns="0" rIns="0" bIns="0" anchor="t">
            <a:spAutoFit/>
          </a:bodyPr>
          <a:lstStyle/>
          <a:p>
            <a:pPr algn="l"/>
            <a:r>
              <a:rPr sz="1000" b="0" spc="100">
                <a:solidFill>
                  <a:srgbClr val="A8BBCD"/>
                </a:solidFill>
                <a:latin typeface="Helvetica Neue"/>
              </a:rPr>
              <a:t>SHIELD BOT  ·  RED-TEAMING FOR SNOWFLAKE CORTEX AGENTS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C1623"/>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22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58368"/>
            <a:ext cx="12191695" cy="13716"/>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77240" y="182880"/>
            <a:ext cx="292608" cy="292608"/>
          </a:xfrm>
          <a:prstGeom prst="roundRect">
            <a:avLst/>
          </a:prstGeom>
          <a:solidFill>
            <a:srgbClr val="142F44"/>
          </a:solidFill>
          <a:ln w="254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82880"/>
            <a:ext cx="292608" cy="292608"/>
          </a:xfrm>
          <a:prstGeom prst="rect">
            <a:avLst/>
          </a:prstGeom>
          <a:noFill/>
        </p:spPr>
        <p:txBody>
          <a:bodyPr wrap="square" lIns="0" tIns="0" rIns="0" bIns="0" anchor="ctr">
            <a:spAutoFit/>
          </a:bodyPr>
          <a:lstStyle/>
          <a:p>
            <a:pPr algn="ctr"/>
            <a:r>
              <a:rPr sz="1200" b="1">
                <a:solidFill>
                  <a:srgbClr val="60C7F0"/>
                </a:solidFill>
                <a:latin typeface="Helvetica Neue"/>
              </a:rPr>
              <a:t>S</a:t>
            </a:r>
          </a:p>
        </p:txBody>
      </p:sp>
      <p:sp>
        <p:nvSpPr>
          <p:cNvPr id="6" name="TextBox 5"/>
          <p:cNvSpPr txBox="1"/>
          <p:nvPr/>
        </p:nvSpPr>
        <p:spPr>
          <a:xfrm>
            <a:off x="1188720" y="182880"/>
            <a:ext cx="2743200" cy="292608"/>
          </a:xfrm>
          <a:prstGeom prst="rect">
            <a:avLst/>
          </a:prstGeom>
          <a:noFill/>
        </p:spPr>
        <p:txBody>
          <a:bodyPr wrap="square" lIns="0" tIns="0" rIns="0" bIns="0" anchor="ctr">
            <a:spAutoFit/>
          </a:bodyPr>
          <a:lstStyle/>
          <a:p>
            <a:pPr algn="l"/>
            <a:r>
              <a:rPr sz="1100" b="1" spc="120">
                <a:solidFill>
                  <a:srgbClr val="EDF5FF"/>
                </a:solidFill>
                <a:latin typeface="Helvetica Neue"/>
              </a:rPr>
              <a:t>SHIELD BOT</a:t>
            </a:r>
          </a:p>
        </p:txBody>
      </p:sp>
      <p:pic>
        <p:nvPicPr>
          <p:cNvPr id="7" name="Picture 6" descr="hackathon_logo.png"/>
          <p:cNvPicPr>
            <a:picLocks noChangeAspect="1"/>
          </p:cNvPicPr>
          <p:nvPr/>
        </p:nvPicPr>
        <p:blipFill>
          <a:blip r:embed="rId3"/>
          <a:stretch>
            <a:fillRect/>
          </a:stretch>
        </p:blipFill>
        <p:spPr>
          <a:xfrm>
            <a:off x="10938967" y="91440"/>
            <a:ext cx="475488" cy="475488"/>
          </a:xfrm>
          <a:prstGeom prst="rect">
            <a:avLst/>
          </a:prstGeom>
        </p:spPr>
      </p:pic>
      <p:sp>
        <p:nvSpPr>
          <p:cNvPr id="8" name="Rectangle 7"/>
          <p:cNvSpPr/>
          <p:nvPr/>
        </p:nvSpPr>
        <p:spPr>
          <a:xfrm>
            <a:off x="10710367" y="182880"/>
            <a:ext cx="13716" cy="292608"/>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55487" y="182880"/>
            <a:ext cx="4572000" cy="292608"/>
          </a:xfrm>
          <a:prstGeom prst="rect">
            <a:avLst/>
          </a:prstGeom>
          <a:noFill/>
        </p:spPr>
        <p:txBody>
          <a:bodyPr wrap="square" lIns="0" tIns="0" rIns="0" bIns="0" anchor="ctr">
            <a:spAutoFit/>
          </a:bodyPr>
          <a:lstStyle/>
          <a:p>
            <a:pPr algn="r"/>
            <a:r>
              <a:rPr sz="1100" b="0">
                <a:solidFill>
                  <a:srgbClr val="A8BBCD"/>
                </a:solidFill>
                <a:latin typeface="Helvetica Neue"/>
              </a:rPr>
              <a:t>The solution  ·  Under the hood</a:t>
            </a:r>
          </a:p>
        </p:txBody>
      </p:sp>
      <p:sp>
        <p:nvSpPr>
          <p:cNvPr id="10" name="TextBox 9"/>
          <p:cNvSpPr txBox="1"/>
          <p:nvPr/>
        </p:nvSpPr>
        <p:spPr>
          <a:xfrm>
            <a:off x="777240" y="914400"/>
            <a:ext cx="822960" cy="502920"/>
          </a:xfrm>
          <a:prstGeom prst="rect">
            <a:avLst/>
          </a:prstGeom>
          <a:noFill/>
        </p:spPr>
        <p:txBody>
          <a:bodyPr wrap="square" lIns="0" tIns="0" rIns="0" bIns="0" anchor="t">
            <a:spAutoFit/>
          </a:bodyPr>
          <a:lstStyle/>
          <a:p>
            <a:pPr algn="l"/>
            <a:r>
              <a:rPr sz="3200" b="1">
                <a:solidFill>
                  <a:srgbClr val="B9A8FF"/>
                </a:solidFill>
                <a:latin typeface="Helvetica Neue"/>
              </a:rPr>
              <a:t>02</a:t>
            </a:r>
          </a:p>
        </p:txBody>
      </p:sp>
      <p:sp>
        <p:nvSpPr>
          <p:cNvPr id="11" name="TextBox 10"/>
          <p:cNvSpPr txBox="1"/>
          <p:nvPr/>
        </p:nvSpPr>
        <p:spPr>
          <a:xfrm>
            <a:off x="1645920" y="914400"/>
            <a:ext cx="9601200" cy="502920"/>
          </a:xfrm>
          <a:prstGeom prst="rect">
            <a:avLst/>
          </a:prstGeom>
          <a:noFill/>
        </p:spPr>
        <p:txBody>
          <a:bodyPr wrap="square" lIns="0" tIns="0" rIns="0" bIns="0" anchor="t">
            <a:spAutoFit/>
          </a:bodyPr>
          <a:lstStyle/>
          <a:p>
            <a:pPr algn="l"/>
            <a:r>
              <a:rPr sz="2900" b="1">
                <a:solidFill>
                  <a:srgbClr val="EDF5FF"/>
                </a:solidFill>
                <a:latin typeface="Helvetica Neue"/>
              </a:rPr>
              <a:t>Three bots. One evidence-driven workflow.</a:t>
            </a:r>
          </a:p>
        </p:txBody>
      </p:sp>
      <p:sp>
        <p:nvSpPr>
          <p:cNvPr id="12" name="TextBox 11"/>
          <p:cNvSpPr txBox="1"/>
          <p:nvPr/>
        </p:nvSpPr>
        <p:spPr>
          <a:xfrm>
            <a:off x="777240" y="1508760"/>
            <a:ext cx="10637215" cy="411480"/>
          </a:xfrm>
          <a:prstGeom prst="rect">
            <a:avLst/>
          </a:prstGeom>
          <a:noFill/>
        </p:spPr>
        <p:txBody>
          <a:bodyPr wrap="square" lIns="0" tIns="0" rIns="0" bIns="0" anchor="t">
            <a:spAutoFit/>
          </a:bodyPr>
          <a:lstStyle/>
          <a:p>
            <a:pPr algn="l"/>
            <a:r>
              <a:rPr sz="1700" b="0">
                <a:solidFill>
                  <a:srgbClr val="A8BBCD"/>
                </a:solidFill>
                <a:latin typeface="Helvetica Neue"/>
              </a:rPr>
              <a:t>Shield Bot tests real, deployed agents and turns findings into human-approved fixes.</a:t>
            </a:r>
          </a:p>
        </p:txBody>
      </p:sp>
      <p:sp>
        <p:nvSpPr>
          <p:cNvPr id="13" name="Rounded Rectangle 12"/>
          <p:cNvSpPr/>
          <p:nvPr/>
        </p:nvSpPr>
        <p:spPr>
          <a:xfrm>
            <a:off x="777240" y="2084831"/>
            <a:ext cx="3271418" cy="850392"/>
          </a:xfrm>
          <a:prstGeom prst="roundRect">
            <a:avLst>
              <a:gd name="adj" fmla="val 10000"/>
            </a:avLst>
          </a:prstGeom>
          <a:solidFill>
            <a:srgbClr val="122132"/>
          </a:solidFill>
          <a:ln w="12700">
            <a:solidFill>
              <a:srgbClr val="3044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60120" y="2084831"/>
            <a:ext cx="2905658" cy="41148"/>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960120" y="2276856"/>
            <a:ext cx="438912" cy="438912"/>
          </a:xfrm>
          <a:prstGeom prst="ellipse">
            <a:avLst/>
          </a:prstGeom>
          <a:solidFill>
            <a:srgbClr val="11567F"/>
          </a:solidFill>
          <a:ln w="381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0120" y="2276856"/>
            <a:ext cx="438912" cy="438912"/>
          </a:xfrm>
          <a:prstGeom prst="rect">
            <a:avLst/>
          </a:prstGeom>
          <a:noFill/>
        </p:spPr>
        <p:txBody>
          <a:bodyPr wrap="square" lIns="0" tIns="0" rIns="0" bIns="0" anchor="ctr">
            <a:spAutoFit/>
          </a:bodyPr>
          <a:lstStyle/>
          <a:p>
            <a:pPr algn="ctr"/>
            <a:r>
              <a:rPr sz="1300" b="1">
                <a:solidFill>
                  <a:srgbClr val="EDF5FF"/>
                </a:solidFill>
                <a:latin typeface="Helvetica Neue"/>
              </a:rPr>
              <a:t>1</a:t>
            </a:r>
          </a:p>
        </p:txBody>
      </p:sp>
      <p:sp>
        <p:nvSpPr>
          <p:cNvPr id="17" name="TextBox 16"/>
          <p:cNvSpPr txBox="1"/>
          <p:nvPr/>
        </p:nvSpPr>
        <p:spPr>
          <a:xfrm>
            <a:off x="1554480" y="2221992"/>
            <a:ext cx="2357018" cy="292608"/>
          </a:xfrm>
          <a:prstGeom prst="rect">
            <a:avLst/>
          </a:prstGeom>
          <a:noFill/>
        </p:spPr>
        <p:txBody>
          <a:bodyPr wrap="square" lIns="0" tIns="0" rIns="0" bIns="0" anchor="t">
            <a:spAutoFit/>
          </a:bodyPr>
          <a:lstStyle/>
          <a:p>
            <a:pPr algn="l"/>
            <a:r>
              <a:rPr sz="1900" b="1">
                <a:solidFill>
                  <a:srgbClr val="EDF5FF"/>
                </a:solidFill>
                <a:latin typeface="Helvetica Neue"/>
              </a:rPr>
              <a:t>Shieldbot</a:t>
            </a:r>
          </a:p>
        </p:txBody>
      </p:sp>
      <p:sp>
        <p:nvSpPr>
          <p:cNvPr id="18" name="TextBox 17"/>
          <p:cNvSpPr txBox="1"/>
          <p:nvPr/>
        </p:nvSpPr>
        <p:spPr>
          <a:xfrm>
            <a:off x="1554480" y="2615184"/>
            <a:ext cx="2357018" cy="228600"/>
          </a:xfrm>
          <a:prstGeom prst="rect">
            <a:avLst/>
          </a:prstGeom>
          <a:noFill/>
        </p:spPr>
        <p:txBody>
          <a:bodyPr wrap="square" lIns="0" tIns="0" rIns="0" bIns="0" anchor="t">
            <a:spAutoFit/>
          </a:bodyPr>
          <a:lstStyle/>
          <a:p>
            <a:pPr algn="l"/>
            <a:r>
              <a:rPr sz="1100" b="0">
                <a:solidFill>
                  <a:srgbClr val="A8BBCD"/>
                </a:solidFill>
                <a:latin typeface="Helvetica Neue"/>
              </a:rPr>
              <a:t>Choose targets, categories &amp; rigor</a:t>
            </a:r>
          </a:p>
        </p:txBody>
      </p:sp>
      <p:sp>
        <p:nvSpPr>
          <p:cNvPr id="19" name="Chevron 18"/>
          <p:cNvSpPr/>
          <p:nvPr/>
        </p:nvSpPr>
        <p:spPr>
          <a:xfrm>
            <a:off x="4167530" y="2386584"/>
            <a:ext cx="173736" cy="237744"/>
          </a:xfrm>
          <a:prstGeom prst="chevron">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460138" y="2084831"/>
            <a:ext cx="3271418" cy="850392"/>
          </a:xfrm>
          <a:prstGeom prst="roundRect">
            <a:avLst>
              <a:gd name="adj" fmla="val 10000"/>
            </a:avLst>
          </a:prstGeom>
          <a:solidFill>
            <a:srgbClr val="122132"/>
          </a:solidFill>
          <a:ln w="12700">
            <a:solidFill>
              <a:srgbClr val="3044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643018" y="2084831"/>
            <a:ext cx="2905658" cy="41148"/>
          </a:xfrm>
          <a:prstGeom prst="rect">
            <a:avLst/>
          </a:prstGeom>
          <a:solidFill>
            <a:srgbClr val="B9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643018" y="2276856"/>
            <a:ext cx="438912" cy="438912"/>
          </a:xfrm>
          <a:prstGeom prst="ellipse">
            <a:avLst/>
          </a:prstGeom>
          <a:solidFill>
            <a:srgbClr val="11567F"/>
          </a:solidFill>
          <a:ln w="38100">
            <a:solidFill>
              <a:srgbClr val="B9A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43018" y="2276856"/>
            <a:ext cx="438912" cy="438912"/>
          </a:xfrm>
          <a:prstGeom prst="rect">
            <a:avLst/>
          </a:prstGeom>
          <a:noFill/>
        </p:spPr>
        <p:txBody>
          <a:bodyPr wrap="square" lIns="0" tIns="0" rIns="0" bIns="0" anchor="ctr">
            <a:spAutoFit/>
          </a:bodyPr>
          <a:lstStyle/>
          <a:p>
            <a:pPr algn="ctr"/>
            <a:r>
              <a:rPr sz="1300" b="1">
                <a:solidFill>
                  <a:srgbClr val="EDF5FF"/>
                </a:solidFill>
                <a:latin typeface="Helvetica Neue"/>
              </a:rPr>
              <a:t>2</a:t>
            </a:r>
          </a:p>
        </p:txBody>
      </p:sp>
      <p:sp>
        <p:nvSpPr>
          <p:cNvPr id="24" name="TextBox 23"/>
          <p:cNvSpPr txBox="1"/>
          <p:nvPr/>
        </p:nvSpPr>
        <p:spPr>
          <a:xfrm>
            <a:off x="5237378" y="2221992"/>
            <a:ext cx="2357018" cy="292608"/>
          </a:xfrm>
          <a:prstGeom prst="rect">
            <a:avLst/>
          </a:prstGeom>
          <a:noFill/>
        </p:spPr>
        <p:txBody>
          <a:bodyPr wrap="square" lIns="0" tIns="0" rIns="0" bIns="0" anchor="t">
            <a:spAutoFit/>
          </a:bodyPr>
          <a:lstStyle/>
          <a:p>
            <a:pPr algn="l"/>
            <a:r>
              <a:rPr sz="1900" b="1">
                <a:solidFill>
                  <a:srgbClr val="EDF5FF"/>
                </a:solidFill>
                <a:latin typeface="Helvetica Neue"/>
              </a:rPr>
              <a:t>Testbot</a:t>
            </a:r>
          </a:p>
        </p:txBody>
      </p:sp>
      <p:sp>
        <p:nvSpPr>
          <p:cNvPr id="25" name="TextBox 24"/>
          <p:cNvSpPr txBox="1"/>
          <p:nvPr/>
        </p:nvSpPr>
        <p:spPr>
          <a:xfrm>
            <a:off x="5237378" y="2615184"/>
            <a:ext cx="2357018" cy="169277"/>
          </a:xfrm>
          <a:prstGeom prst="rect">
            <a:avLst/>
          </a:prstGeom>
          <a:noFill/>
        </p:spPr>
        <p:txBody>
          <a:bodyPr wrap="square" lIns="0" tIns="0" rIns="0" bIns="0" anchor="t">
            <a:spAutoFit/>
          </a:bodyPr>
          <a:lstStyle/>
          <a:p>
            <a:pPr algn="l"/>
            <a:r>
              <a:rPr sz="1100" b="0" dirty="0">
                <a:solidFill>
                  <a:srgbClr val="A8BBCD"/>
                </a:solidFill>
                <a:latin typeface="Helvetica Neue"/>
              </a:rPr>
              <a:t>Launch tests </a:t>
            </a:r>
            <a:r>
              <a:rPr lang="en-US" sz="1100" b="0" dirty="0">
                <a:solidFill>
                  <a:srgbClr val="A8BBCD"/>
                </a:solidFill>
                <a:latin typeface="Helvetica Neue"/>
              </a:rPr>
              <a:t>and reports results</a:t>
            </a:r>
            <a:endParaRPr sz="1100" b="0" dirty="0">
              <a:solidFill>
                <a:srgbClr val="A8BBCD"/>
              </a:solidFill>
              <a:latin typeface="Helvetica Neue"/>
            </a:endParaRPr>
          </a:p>
        </p:txBody>
      </p:sp>
      <p:sp>
        <p:nvSpPr>
          <p:cNvPr id="26" name="Chevron 25"/>
          <p:cNvSpPr/>
          <p:nvPr/>
        </p:nvSpPr>
        <p:spPr>
          <a:xfrm>
            <a:off x="7850428" y="2386584"/>
            <a:ext cx="173736" cy="237744"/>
          </a:xfrm>
          <a:prstGeom prst="chevron">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143036" y="2084831"/>
            <a:ext cx="3271418" cy="850392"/>
          </a:xfrm>
          <a:prstGeom prst="roundRect">
            <a:avLst>
              <a:gd name="adj" fmla="val 10000"/>
            </a:avLst>
          </a:prstGeom>
          <a:solidFill>
            <a:srgbClr val="122132"/>
          </a:solidFill>
          <a:ln w="12700">
            <a:solidFill>
              <a:srgbClr val="3044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325916" y="2084831"/>
            <a:ext cx="2905658" cy="41148"/>
          </a:xfrm>
          <a:prstGeom prst="rect">
            <a:avLst/>
          </a:prstGeom>
          <a:solidFill>
            <a:srgbClr val="61D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8325916" y="2276856"/>
            <a:ext cx="438912" cy="438912"/>
          </a:xfrm>
          <a:prstGeom prst="ellipse">
            <a:avLst/>
          </a:prstGeom>
          <a:solidFill>
            <a:srgbClr val="11567F"/>
          </a:solidFill>
          <a:ln w="38100">
            <a:solidFill>
              <a:srgbClr val="61D2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25916" y="2276856"/>
            <a:ext cx="438912" cy="438912"/>
          </a:xfrm>
          <a:prstGeom prst="rect">
            <a:avLst/>
          </a:prstGeom>
          <a:noFill/>
        </p:spPr>
        <p:txBody>
          <a:bodyPr wrap="square" lIns="0" tIns="0" rIns="0" bIns="0" anchor="ctr">
            <a:spAutoFit/>
          </a:bodyPr>
          <a:lstStyle/>
          <a:p>
            <a:pPr algn="ctr"/>
            <a:r>
              <a:rPr sz="1300" b="1">
                <a:solidFill>
                  <a:srgbClr val="EDF5FF"/>
                </a:solidFill>
                <a:latin typeface="Helvetica Neue"/>
              </a:rPr>
              <a:t>3</a:t>
            </a:r>
          </a:p>
        </p:txBody>
      </p:sp>
      <p:sp>
        <p:nvSpPr>
          <p:cNvPr id="31" name="TextBox 30"/>
          <p:cNvSpPr txBox="1"/>
          <p:nvPr/>
        </p:nvSpPr>
        <p:spPr>
          <a:xfrm>
            <a:off x="8920276" y="2221992"/>
            <a:ext cx="2357018" cy="292608"/>
          </a:xfrm>
          <a:prstGeom prst="rect">
            <a:avLst/>
          </a:prstGeom>
          <a:noFill/>
        </p:spPr>
        <p:txBody>
          <a:bodyPr wrap="square" lIns="0" tIns="0" rIns="0" bIns="0" anchor="t">
            <a:spAutoFit/>
          </a:bodyPr>
          <a:lstStyle/>
          <a:p>
            <a:pPr algn="l"/>
            <a:r>
              <a:rPr sz="1900" b="1">
                <a:solidFill>
                  <a:srgbClr val="EDF5FF"/>
                </a:solidFill>
                <a:latin typeface="Helvetica Neue"/>
              </a:rPr>
              <a:t>Fixbot</a:t>
            </a:r>
          </a:p>
        </p:txBody>
      </p:sp>
      <p:sp>
        <p:nvSpPr>
          <p:cNvPr id="32" name="TextBox 31"/>
          <p:cNvSpPr txBox="1"/>
          <p:nvPr/>
        </p:nvSpPr>
        <p:spPr>
          <a:xfrm>
            <a:off x="8920276" y="2615184"/>
            <a:ext cx="2357018" cy="169277"/>
          </a:xfrm>
          <a:prstGeom prst="rect">
            <a:avLst/>
          </a:prstGeom>
          <a:noFill/>
        </p:spPr>
        <p:txBody>
          <a:bodyPr wrap="square" lIns="0" tIns="0" rIns="0" bIns="0" anchor="t">
            <a:spAutoFit/>
          </a:bodyPr>
          <a:lstStyle/>
          <a:p>
            <a:pPr algn="l"/>
            <a:r>
              <a:rPr lang="en-US" sz="1100" b="0" dirty="0">
                <a:solidFill>
                  <a:srgbClr val="A8BBCD"/>
                </a:solidFill>
                <a:latin typeface="Helvetica Neue"/>
              </a:rPr>
              <a:t>Proposes</a:t>
            </a:r>
            <a:r>
              <a:rPr sz="1100" b="0" dirty="0">
                <a:solidFill>
                  <a:srgbClr val="A8BBCD"/>
                </a:solidFill>
                <a:latin typeface="Helvetica Neue"/>
              </a:rPr>
              <a:t> fixes for human approval</a:t>
            </a:r>
          </a:p>
        </p:txBody>
      </p:sp>
      <p:sp>
        <p:nvSpPr>
          <p:cNvPr id="33" name="TextBox 32"/>
          <p:cNvSpPr txBox="1"/>
          <p:nvPr/>
        </p:nvSpPr>
        <p:spPr>
          <a:xfrm>
            <a:off x="777240" y="3172968"/>
            <a:ext cx="2834640" cy="274320"/>
          </a:xfrm>
          <a:prstGeom prst="rect">
            <a:avLst/>
          </a:prstGeom>
          <a:noFill/>
        </p:spPr>
        <p:txBody>
          <a:bodyPr wrap="square" lIns="0" tIns="0" rIns="0" bIns="0" anchor="t">
            <a:spAutoFit/>
          </a:bodyPr>
          <a:lstStyle/>
          <a:p>
            <a:pPr algn="l"/>
            <a:r>
              <a:rPr sz="1100" b="1" spc="200">
                <a:solidFill>
                  <a:srgbClr val="60C7F0"/>
                </a:solidFill>
                <a:latin typeface="Helvetica Neue"/>
              </a:rPr>
              <a:t>INSIDE SNOWFLAKE</a:t>
            </a:r>
          </a:p>
        </p:txBody>
      </p:sp>
      <p:sp>
        <p:nvSpPr>
          <p:cNvPr id="34" name="TextBox 33"/>
          <p:cNvSpPr txBox="1"/>
          <p:nvPr/>
        </p:nvSpPr>
        <p:spPr>
          <a:xfrm>
            <a:off x="6949440" y="3172968"/>
            <a:ext cx="4465015" cy="274320"/>
          </a:xfrm>
          <a:prstGeom prst="rect">
            <a:avLst/>
          </a:prstGeom>
          <a:noFill/>
        </p:spPr>
        <p:txBody>
          <a:bodyPr wrap="square" lIns="0" tIns="0" rIns="0" bIns="0" anchor="t">
            <a:spAutoFit/>
          </a:bodyPr>
          <a:lstStyle/>
          <a:p>
            <a:pPr algn="r"/>
            <a:r>
              <a:rPr sz="1100" b="0">
                <a:solidFill>
                  <a:srgbClr val="A8BBCD"/>
                </a:solidFill>
                <a:latin typeface="Helvetica Neue"/>
              </a:rPr>
              <a:t>Cortex agents in AGENTSHIELD_DB.ORCH</a:t>
            </a:r>
          </a:p>
        </p:txBody>
      </p:sp>
      <p:sp>
        <p:nvSpPr>
          <p:cNvPr id="35" name="Rectangle 34"/>
          <p:cNvSpPr/>
          <p:nvPr/>
        </p:nvSpPr>
        <p:spPr>
          <a:xfrm>
            <a:off x="777240" y="3547872"/>
            <a:ext cx="10637215" cy="13716"/>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77240" y="3536899"/>
            <a:ext cx="1005840" cy="36576"/>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777240" y="3776472"/>
            <a:ext cx="1874519" cy="2194560"/>
          </a:xfrm>
          <a:prstGeom prst="roundRect">
            <a:avLst>
              <a:gd name="adj" fmla="val 6000"/>
            </a:avLst>
          </a:prstGeom>
          <a:solidFill>
            <a:srgbClr val="122132"/>
          </a:solidFill>
          <a:ln w="12700">
            <a:solidFill>
              <a:srgbClr val="3044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41832" y="3941063"/>
            <a:ext cx="1545336" cy="274320"/>
          </a:xfrm>
          <a:prstGeom prst="rect">
            <a:avLst/>
          </a:prstGeom>
          <a:noFill/>
        </p:spPr>
        <p:txBody>
          <a:bodyPr wrap="square" lIns="0" tIns="0" rIns="0" bIns="0" anchor="t">
            <a:spAutoFit/>
          </a:bodyPr>
          <a:lstStyle/>
          <a:p>
            <a:pPr algn="l"/>
            <a:r>
              <a:rPr sz="1500" b="1">
                <a:solidFill>
                  <a:srgbClr val="29B5E8"/>
                </a:solidFill>
                <a:latin typeface="Helvetica Neue"/>
              </a:rPr>
              <a:t>Reference library</a:t>
            </a:r>
          </a:p>
        </p:txBody>
      </p:sp>
      <p:sp>
        <p:nvSpPr>
          <p:cNvPr id="39" name="TextBox 38"/>
          <p:cNvSpPr txBox="1"/>
          <p:nvPr/>
        </p:nvSpPr>
        <p:spPr>
          <a:xfrm>
            <a:off x="941832" y="4407408"/>
            <a:ext cx="1554480" cy="502920"/>
          </a:xfrm>
          <a:prstGeom prst="rect">
            <a:avLst/>
          </a:prstGeom>
          <a:noFill/>
        </p:spPr>
        <p:txBody>
          <a:bodyPr wrap="square" lIns="0" tIns="0" rIns="0" bIns="0" anchor="t">
            <a:spAutoFit/>
          </a:bodyPr>
          <a:lstStyle/>
          <a:p>
            <a:pPr algn="l"/>
            <a:r>
              <a:rPr sz="3400" b="1">
                <a:solidFill>
                  <a:srgbClr val="29B5E8"/>
                </a:solidFill>
                <a:latin typeface="Helvetica Neue"/>
              </a:rPr>
              <a:t>120</a:t>
            </a:r>
          </a:p>
        </p:txBody>
      </p:sp>
      <p:sp>
        <p:nvSpPr>
          <p:cNvPr id="40" name="TextBox 39"/>
          <p:cNvSpPr txBox="1"/>
          <p:nvPr/>
        </p:nvSpPr>
        <p:spPr>
          <a:xfrm>
            <a:off x="941832" y="4956048"/>
            <a:ext cx="1554480" cy="594360"/>
          </a:xfrm>
          <a:prstGeom prst="rect">
            <a:avLst/>
          </a:prstGeom>
          <a:noFill/>
        </p:spPr>
        <p:txBody>
          <a:bodyPr wrap="square" lIns="0" tIns="0" rIns="0" bIns="0" anchor="t">
            <a:spAutoFit/>
          </a:bodyPr>
          <a:lstStyle/>
          <a:p>
            <a:pPr algn="l"/>
            <a:r>
              <a:rPr sz="1200" b="0">
                <a:solidFill>
                  <a:srgbClr val="A8BBCD"/>
                </a:solidFill>
                <a:latin typeface="Helvetica Neue"/>
              </a:rPr>
              <a:t>15 templates per category
+ 1 benign baseline</a:t>
            </a:r>
          </a:p>
        </p:txBody>
      </p:sp>
      <p:sp>
        <p:nvSpPr>
          <p:cNvPr id="41" name="TextBox 40"/>
          <p:cNvSpPr txBox="1"/>
          <p:nvPr/>
        </p:nvSpPr>
        <p:spPr>
          <a:xfrm>
            <a:off x="941832" y="5623560"/>
            <a:ext cx="1554480" cy="210312"/>
          </a:xfrm>
          <a:prstGeom prst="rect">
            <a:avLst/>
          </a:prstGeom>
          <a:noFill/>
        </p:spPr>
        <p:txBody>
          <a:bodyPr wrap="square" lIns="0" tIns="0" rIns="0" bIns="0" anchor="t">
            <a:spAutoFit/>
          </a:bodyPr>
          <a:lstStyle/>
          <a:p>
            <a:pPr algn="l"/>
            <a:r>
              <a:rPr sz="950" b="1">
                <a:solidFill>
                  <a:srgbClr val="EDF5FF"/>
                </a:solidFill>
                <a:latin typeface="Helvetica Neue"/>
              </a:rPr>
              <a:t>ATTACK_TEMPLATES</a:t>
            </a:r>
          </a:p>
        </p:txBody>
      </p:sp>
      <p:sp>
        <p:nvSpPr>
          <p:cNvPr id="42" name="Rounded Rectangle 41"/>
          <p:cNvSpPr/>
          <p:nvPr/>
        </p:nvSpPr>
        <p:spPr>
          <a:xfrm>
            <a:off x="2926080" y="3776472"/>
            <a:ext cx="3429000" cy="2194560"/>
          </a:xfrm>
          <a:prstGeom prst="roundRect">
            <a:avLst>
              <a:gd name="adj" fmla="val 6000"/>
            </a:avLst>
          </a:prstGeom>
          <a:solidFill>
            <a:srgbClr val="122132"/>
          </a:solidFill>
          <a:ln w="12700">
            <a:solidFill>
              <a:srgbClr val="3044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3" name="TextBox 42"/>
          <p:cNvSpPr txBox="1"/>
          <p:nvPr/>
        </p:nvSpPr>
        <p:spPr>
          <a:xfrm>
            <a:off x="3090672" y="3941063"/>
            <a:ext cx="3099816" cy="461665"/>
          </a:xfrm>
          <a:prstGeom prst="rect">
            <a:avLst/>
          </a:prstGeom>
          <a:noFill/>
        </p:spPr>
        <p:txBody>
          <a:bodyPr wrap="square" lIns="0" tIns="0" rIns="0" bIns="0" anchor="t">
            <a:spAutoFit/>
          </a:bodyPr>
          <a:lstStyle/>
          <a:p>
            <a:pPr algn="l"/>
            <a:r>
              <a:rPr sz="1500" b="1" dirty="0">
                <a:solidFill>
                  <a:srgbClr val="B9A8FF"/>
                </a:solidFill>
                <a:latin typeface="Helvetica Neue"/>
              </a:rPr>
              <a:t>8 specialist</a:t>
            </a:r>
            <a:r>
              <a:rPr lang="en-US" sz="1500" b="1" dirty="0">
                <a:solidFill>
                  <a:srgbClr val="B9A8FF"/>
                </a:solidFill>
                <a:latin typeface="Helvetica Neue"/>
              </a:rPr>
              <a:t> agents across 8 attack categories</a:t>
            </a:r>
            <a:endParaRPr sz="1500" b="1" dirty="0">
              <a:solidFill>
                <a:srgbClr val="B9A8FF"/>
              </a:solidFill>
              <a:latin typeface="Helvetica Neue"/>
            </a:endParaRPr>
          </a:p>
        </p:txBody>
      </p:sp>
      <p:sp>
        <p:nvSpPr>
          <p:cNvPr id="44" name="TextBox 43"/>
          <p:cNvSpPr txBox="1"/>
          <p:nvPr/>
        </p:nvSpPr>
        <p:spPr>
          <a:xfrm>
            <a:off x="3090672" y="4475883"/>
            <a:ext cx="1572768" cy="201168"/>
          </a:xfrm>
          <a:prstGeom prst="rect">
            <a:avLst/>
          </a:prstGeom>
          <a:noFill/>
        </p:spPr>
        <p:txBody>
          <a:bodyPr wrap="square" lIns="0" tIns="0" rIns="0" bIns="0" anchor="t">
            <a:spAutoFit/>
          </a:bodyPr>
          <a:lstStyle/>
          <a:p>
            <a:pPr algn="l"/>
            <a:r>
              <a:rPr sz="910" b="0" dirty="0">
                <a:solidFill>
                  <a:srgbClr val="EDF5FF"/>
                </a:solidFill>
                <a:latin typeface="Helvetica Neue"/>
              </a:rPr>
              <a:t>PROMPT_INJECTION</a:t>
            </a:r>
          </a:p>
        </p:txBody>
      </p:sp>
      <p:sp>
        <p:nvSpPr>
          <p:cNvPr id="45" name="TextBox 44"/>
          <p:cNvSpPr txBox="1"/>
          <p:nvPr/>
        </p:nvSpPr>
        <p:spPr>
          <a:xfrm>
            <a:off x="4663440" y="4475883"/>
            <a:ext cx="1572768" cy="201168"/>
          </a:xfrm>
          <a:prstGeom prst="rect">
            <a:avLst/>
          </a:prstGeom>
          <a:noFill/>
        </p:spPr>
        <p:txBody>
          <a:bodyPr wrap="square" lIns="0" tIns="0" rIns="0" bIns="0" anchor="t">
            <a:spAutoFit/>
          </a:bodyPr>
          <a:lstStyle/>
          <a:p>
            <a:pPr algn="l"/>
            <a:r>
              <a:rPr sz="910" b="0">
                <a:solidFill>
                  <a:srgbClr val="EDF5FF"/>
                </a:solidFill>
                <a:latin typeface="Helvetica Neue"/>
              </a:rPr>
              <a:t>PII_EXTRACTION</a:t>
            </a:r>
          </a:p>
        </p:txBody>
      </p:sp>
      <p:sp>
        <p:nvSpPr>
          <p:cNvPr id="46" name="TextBox 45"/>
          <p:cNvSpPr txBox="1"/>
          <p:nvPr/>
        </p:nvSpPr>
        <p:spPr>
          <a:xfrm>
            <a:off x="3090672" y="4713627"/>
            <a:ext cx="1572768" cy="201168"/>
          </a:xfrm>
          <a:prstGeom prst="rect">
            <a:avLst/>
          </a:prstGeom>
          <a:noFill/>
        </p:spPr>
        <p:txBody>
          <a:bodyPr wrap="square" lIns="0" tIns="0" rIns="0" bIns="0" anchor="t">
            <a:spAutoFit/>
          </a:bodyPr>
          <a:lstStyle/>
          <a:p>
            <a:pPr algn="l"/>
            <a:r>
              <a:rPr sz="910" b="0">
                <a:solidFill>
                  <a:srgbClr val="EDF5FF"/>
                </a:solidFill>
                <a:latin typeface="Helvetica Neue"/>
              </a:rPr>
              <a:t>SCOPE_VIOLATION</a:t>
            </a:r>
          </a:p>
        </p:txBody>
      </p:sp>
      <p:sp>
        <p:nvSpPr>
          <p:cNvPr id="47" name="TextBox 46"/>
          <p:cNvSpPr txBox="1"/>
          <p:nvPr/>
        </p:nvSpPr>
        <p:spPr>
          <a:xfrm>
            <a:off x="4663440" y="4713627"/>
            <a:ext cx="1572768" cy="201168"/>
          </a:xfrm>
          <a:prstGeom prst="rect">
            <a:avLst/>
          </a:prstGeom>
          <a:noFill/>
        </p:spPr>
        <p:txBody>
          <a:bodyPr wrap="square" lIns="0" tIns="0" rIns="0" bIns="0" anchor="t">
            <a:spAutoFit/>
          </a:bodyPr>
          <a:lstStyle/>
          <a:p>
            <a:pPr algn="l"/>
            <a:r>
              <a:rPr sz="910" b="0">
                <a:solidFill>
                  <a:srgbClr val="EDF5FF"/>
                </a:solidFill>
                <a:latin typeface="Helvetica Neue"/>
              </a:rPr>
              <a:t>SOCIAL_ENGINEERING</a:t>
            </a:r>
          </a:p>
        </p:txBody>
      </p:sp>
      <p:sp>
        <p:nvSpPr>
          <p:cNvPr id="48" name="TextBox 47"/>
          <p:cNvSpPr txBox="1"/>
          <p:nvPr/>
        </p:nvSpPr>
        <p:spPr>
          <a:xfrm>
            <a:off x="3090672" y="4951371"/>
            <a:ext cx="1572768" cy="201168"/>
          </a:xfrm>
          <a:prstGeom prst="rect">
            <a:avLst/>
          </a:prstGeom>
          <a:noFill/>
        </p:spPr>
        <p:txBody>
          <a:bodyPr wrap="square" lIns="0" tIns="0" rIns="0" bIns="0" anchor="t">
            <a:spAutoFit/>
          </a:bodyPr>
          <a:lstStyle/>
          <a:p>
            <a:pPr algn="l"/>
            <a:r>
              <a:rPr sz="910" b="0">
                <a:solidFill>
                  <a:srgbClr val="EDF5FF"/>
                </a:solidFill>
                <a:latin typeface="Helvetica Neue"/>
              </a:rPr>
              <a:t>MULTI_TURN</a:t>
            </a:r>
          </a:p>
        </p:txBody>
      </p:sp>
      <p:sp>
        <p:nvSpPr>
          <p:cNvPr id="49" name="TextBox 48"/>
          <p:cNvSpPr txBox="1"/>
          <p:nvPr/>
        </p:nvSpPr>
        <p:spPr>
          <a:xfrm>
            <a:off x="4663440" y="4951371"/>
            <a:ext cx="1572768" cy="201168"/>
          </a:xfrm>
          <a:prstGeom prst="rect">
            <a:avLst/>
          </a:prstGeom>
          <a:noFill/>
        </p:spPr>
        <p:txBody>
          <a:bodyPr wrap="square" lIns="0" tIns="0" rIns="0" bIns="0" anchor="t">
            <a:spAutoFit/>
          </a:bodyPr>
          <a:lstStyle/>
          <a:p>
            <a:pPr algn="l"/>
            <a:r>
              <a:rPr sz="910" b="0" dirty="0">
                <a:solidFill>
                  <a:srgbClr val="EDF5FF"/>
                </a:solidFill>
                <a:latin typeface="Helvetica Neue"/>
              </a:rPr>
              <a:t>DATA_EXFILTRATION</a:t>
            </a:r>
          </a:p>
        </p:txBody>
      </p:sp>
      <p:sp>
        <p:nvSpPr>
          <p:cNvPr id="50" name="TextBox 49"/>
          <p:cNvSpPr txBox="1"/>
          <p:nvPr/>
        </p:nvSpPr>
        <p:spPr>
          <a:xfrm>
            <a:off x="3090672" y="5189115"/>
            <a:ext cx="1572768" cy="201168"/>
          </a:xfrm>
          <a:prstGeom prst="rect">
            <a:avLst/>
          </a:prstGeom>
          <a:noFill/>
        </p:spPr>
        <p:txBody>
          <a:bodyPr wrap="square" lIns="0" tIns="0" rIns="0" bIns="0" anchor="t">
            <a:spAutoFit/>
          </a:bodyPr>
          <a:lstStyle/>
          <a:p>
            <a:pPr algn="l"/>
            <a:r>
              <a:rPr sz="910" b="0">
                <a:solidFill>
                  <a:srgbClr val="EDF5FF"/>
                </a:solidFill>
                <a:latin typeface="Helvetica Neue"/>
              </a:rPr>
              <a:t>ROLE_ESCALATION</a:t>
            </a:r>
          </a:p>
        </p:txBody>
      </p:sp>
      <p:sp>
        <p:nvSpPr>
          <p:cNvPr id="51" name="TextBox 50"/>
          <p:cNvSpPr txBox="1"/>
          <p:nvPr/>
        </p:nvSpPr>
        <p:spPr>
          <a:xfrm>
            <a:off x="4663440" y="5189115"/>
            <a:ext cx="1572768" cy="201168"/>
          </a:xfrm>
          <a:prstGeom prst="rect">
            <a:avLst/>
          </a:prstGeom>
          <a:noFill/>
        </p:spPr>
        <p:txBody>
          <a:bodyPr wrap="square" lIns="0" tIns="0" rIns="0" bIns="0" anchor="t">
            <a:spAutoFit/>
          </a:bodyPr>
          <a:lstStyle/>
          <a:p>
            <a:pPr algn="l"/>
            <a:r>
              <a:rPr sz="910" b="0">
                <a:solidFill>
                  <a:srgbClr val="EDF5FF"/>
                </a:solidFill>
                <a:latin typeface="Helvetica Neue"/>
              </a:rPr>
              <a:t>INDIRECT_INJECTION</a:t>
            </a:r>
          </a:p>
        </p:txBody>
      </p:sp>
      <p:sp>
        <p:nvSpPr>
          <p:cNvPr id="52" name="Rectangle 51"/>
          <p:cNvSpPr/>
          <p:nvPr/>
        </p:nvSpPr>
        <p:spPr>
          <a:xfrm>
            <a:off x="3090672" y="5468112"/>
            <a:ext cx="3081528" cy="11887"/>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6629400" y="3776472"/>
            <a:ext cx="2194560" cy="2194560"/>
          </a:xfrm>
          <a:prstGeom prst="roundRect">
            <a:avLst>
              <a:gd name="adj" fmla="val 6000"/>
            </a:avLst>
          </a:prstGeom>
          <a:solidFill>
            <a:srgbClr val="122132"/>
          </a:solidFill>
          <a:ln w="12700">
            <a:solidFill>
              <a:srgbClr val="3044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793992" y="3941063"/>
            <a:ext cx="1865376" cy="274320"/>
          </a:xfrm>
          <a:prstGeom prst="rect">
            <a:avLst/>
          </a:prstGeom>
          <a:noFill/>
        </p:spPr>
        <p:txBody>
          <a:bodyPr wrap="square" lIns="0" tIns="0" rIns="0" bIns="0" anchor="t">
            <a:spAutoFit/>
          </a:bodyPr>
          <a:lstStyle/>
          <a:p>
            <a:pPr algn="l"/>
            <a:r>
              <a:rPr sz="1500" b="1">
                <a:solidFill>
                  <a:srgbClr val="B9A8FF"/>
                </a:solidFill>
                <a:latin typeface="Helvetica Neue"/>
              </a:rPr>
              <a:t>Parallel live tests</a:t>
            </a:r>
          </a:p>
        </p:txBody>
      </p:sp>
      <p:sp>
        <p:nvSpPr>
          <p:cNvPr id="56" name="Rounded Rectangle 55"/>
          <p:cNvSpPr/>
          <p:nvPr/>
        </p:nvSpPr>
        <p:spPr>
          <a:xfrm>
            <a:off x="6793992" y="4462272"/>
            <a:ext cx="393192" cy="310896"/>
          </a:xfrm>
          <a:prstGeom prst="roundRect">
            <a:avLst>
              <a:gd name="adj" fmla="val 15000"/>
            </a:avLst>
          </a:prstGeom>
          <a:solidFill>
            <a:srgbClr val="28243E"/>
          </a:solidFill>
          <a:ln w="12700">
            <a:solidFill>
              <a:srgbClr val="B9A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793992" y="4462272"/>
            <a:ext cx="393192" cy="310896"/>
          </a:xfrm>
          <a:prstGeom prst="rect">
            <a:avLst/>
          </a:prstGeom>
          <a:noFill/>
        </p:spPr>
        <p:txBody>
          <a:bodyPr wrap="square" lIns="0" tIns="0" rIns="0" bIns="0" anchor="ctr">
            <a:spAutoFit/>
          </a:bodyPr>
          <a:lstStyle/>
          <a:p>
            <a:pPr algn="ctr"/>
            <a:r>
              <a:rPr sz="1200" b="0">
                <a:solidFill>
                  <a:srgbClr val="B9A8FF"/>
                </a:solidFill>
                <a:latin typeface="Helvetica Neue"/>
              </a:rPr>
              <a:t>1</a:t>
            </a:r>
          </a:p>
        </p:txBody>
      </p:sp>
      <p:sp>
        <p:nvSpPr>
          <p:cNvPr id="58" name="Rounded Rectangle 57"/>
          <p:cNvSpPr/>
          <p:nvPr/>
        </p:nvSpPr>
        <p:spPr>
          <a:xfrm>
            <a:off x="7260336" y="4462272"/>
            <a:ext cx="393192" cy="310896"/>
          </a:xfrm>
          <a:prstGeom prst="roundRect">
            <a:avLst>
              <a:gd name="adj" fmla="val 15000"/>
            </a:avLst>
          </a:prstGeom>
          <a:solidFill>
            <a:srgbClr val="28243E"/>
          </a:solidFill>
          <a:ln w="12700">
            <a:solidFill>
              <a:srgbClr val="B9A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260336" y="4462272"/>
            <a:ext cx="393192" cy="310896"/>
          </a:xfrm>
          <a:prstGeom prst="rect">
            <a:avLst/>
          </a:prstGeom>
          <a:noFill/>
        </p:spPr>
        <p:txBody>
          <a:bodyPr wrap="square" lIns="0" tIns="0" rIns="0" bIns="0" anchor="ctr">
            <a:spAutoFit/>
          </a:bodyPr>
          <a:lstStyle/>
          <a:p>
            <a:pPr algn="ctr"/>
            <a:r>
              <a:rPr sz="1200" b="0">
                <a:solidFill>
                  <a:srgbClr val="B9A8FF"/>
                </a:solidFill>
                <a:latin typeface="Helvetica Neue"/>
              </a:rPr>
              <a:t>2</a:t>
            </a:r>
          </a:p>
        </p:txBody>
      </p:sp>
      <p:sp>
        <p:nvSpPr>
          <p:cNvPr id="60" name="Rounded Rectangle 59"/>
          <p:cNvSpPr/>
          <p:nvPr/>
        </p:nvSpPr>
        <p:spPr>
          <a:xfrm>
            <a:off x="7726679" y="4462272"/>
            <a:ext cx="393192" cy="310896"/>
          </a:xfrm>
          <a:prstGeom prst="roundRect">
            <a:avLst>
              <a:gd name="adj" fmla="val 15000"/>
            </a:avLst>
          </a:prstGeom>
          <a:solidFill>
            <a:srgbClr val="28243E"/>
          </a:solidFill>
          <a:ln w="12700">
            <a:solidFill>
              <a:srgbClr val="B9A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7726679" y="4462272"/>
            <a:ext cx="393192" cy="310896"/>
          </a:xfrm>
          <a:prstGeom prst="rect">
            <a:avLst/>
          </a:prstGeom>
          <a:noFill/>
        </p:spPr>
        <p:txBody>
          <a:bodyPr wrap="square" lIns="0" tIns="0" rIns="0" bIns="0" anchor="ctr">
            <a:spAutoFit/>
          </a:bodyPr>
          <a:lstStyle/>
          <a:p>
            <a:pPr algn="ctr"/>
            <a:r>
              <a:rPr sz="1200" b="0">
                <a:solidFill>
                  <a:srgbClr val="B9A8FF"/>
                </a:solidFill>
                <a:latin typeface="Helvetica Neue"/>
              </a:rPr>
              <a:t>3</a:t>
            </a:r>
          </a:p>
        </p:txBody>
      </p:sp>
      <p:sp>
        <p:nvSpPr>
          <p:cNvPr id="62" name="Rounded Rectangle 61"/>
          <p:cNvSpPr/>
          <p:nvPr/>
        </p:nvSpPr>
        <p:spPr>
          <a:xfrm>
            <a:off x="8193023" y="4462272"/>
            <a:ext cx="393192" cy="310896"/>
          </a:xfrm>
          <a:prstGeom prst="roundRect">
            <a:avLst>
              <a:gd name="adj" fmla="val 15000"/>
            </a:avLst>
          </a:prstGeom>
          <a:solidFill>
            <a:srgbClr val="28243E"/>
          </a:solidFill>
          <a:ln w="12700">
            <a:solidFill>
              <a:srgbClr val="B9A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8193023" y="4462272"/>
            <a:ext cx="393192" cy="310896"/>
          </a:xfrm>
          <a:prstGeom prst="rect">
            <a:avLst/>
          </a:prstGeom>
          <a:noFill/>
        </p:spPr>
        <p:txBody>
          <a:bodyPr wrap="square" lIns="0" tIns="0" rIns="0" bIns="0" anchor="ctr">
            <a:spAutoFit/>
          </a:bodyPr>
          <a:lstStyle/>
          <a:p>
            <a:pPr algn="ctr"/>
            <a:r>
              <a:rPr sz="1200" b="0">
                <a:solidFill>
                  <a:srgbClr val="B9A8FF"/>
                </a:solidFill>
                <a:latin typeface="Helvetica Neue"/>
              </a:rPr>
              <a:t>4</a:t>
            </a:r>
          </a:p>
        </p:txBody>
      </p:sp>
      <p:sp>
        <p:nvSpPr>
          <p:cNvPr id="64" name="TextBox 63"/>
          <p:cNvSpPr txBox="1"/>
          <p:nvPr/>
        </p:nvSpPr>
        <p:spPr>
          <a:xfrm>
            <a:off x="6793992" y="4919472"/>
            <a:ext cx="1847088" cy="502920"/>
          </a:xfrm>
          <a:prstGeom prst="rect">
            <a:avLst/>
          </a:prstGeom>
          <a:noFill/>
        </p:spPr>
        <p:txBody>
          <a:bodyPr wrap="square" lIns="0" tIns="0" rIns="0" bIns="0" anchor="t">
            <a:spAutoFit/>
          </a:bodyPr>
          <a:lstStyle/>
          <a:p>
            <a:pPr algn="l"/>
            <a:r>
              <a:rPr sz="1200" b="0">
                <a:solidFill>
                  <a:srgbClr val="EDF5FF"/>
                </a:solidFill>
                <a:latin typeface="Helvetica Neue"/>
              </a:rPr>
              <a:t>4 shared task workers
Category jobs fan out</a:t>
            </a:r>
          </a:p>
        </p:txBody>
      </p:sp>
      <p:sp>
        <p:nvSpPr>
          <p:cNvPr id="65" name="TextBox 64"/>
          <p:cNvSpPr txBox="1"/>
          <p:nvPr/>
        </p:nvSpPr>
        <p:spPr>
          <a:xfrm>
            <a:off x="6793992" y="5541264"/>
            <a:ext cx="1847088" cy="320040"/>
          </a:xfrm>
          <a:prstGeom prst="rect">
            <a:avLst/>
          </a:prstGeom>
          <a:noFill/>
        </p:spPr>
        <p:txBody>
          <a:bodyPr wrap="square" lIns="0" tIns="0" rIns="0" bIns="0" anchor="t">
            <a:spAutoFit/>
          </a:bodyPr>
          <a:lstStyle/>
          <a:p>
            <a:pPr algn="l"/>
            <a:r>
              <a:rPr sz="1100" b="0">
                <a:solidFill>
                  <a:srgbClr val="A8BBCD"/>
                </a:solidFill>
                <a:latin typeface="Helvetica Neue"/>
              </a:rPr>
              <a:t>Persona runner -&gt; target agent</a:t>
            </a:r>
          </a:p>
        </p:txBody>
      </p:sp>
      <p:sp>
        <p:nvSpPr>
          <p:cNvPr id="66" name="Rounded Rectangle 65"/>
          <p:cNvSpPr/>
          <p:nvPr/>
        </p:nvSpPr>
        <p:spPr>
          <a:xfrm>
            <a:off x="9098280" y="3776472"/>
            <a:ext cx="2313432" cy="2194560"/>
          </a:xfrm>
          <a:prstGeom prst="roundRect">
            <a:avLst>
              <a:gd name="adj" fmla="val 6000"/>
            </a:avLst>
          </a:prstGeom>
          <a:solidFill>
            <a:srgbClr val="122132"/>
          </a:solidFill>
          <a:ln w="12700">
            <a:solidFill>
              <a:srgbClr val="3044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9262872" y="3941063"/>
            <a:ext cx="1984248" cy="274320"/>
          </a:xfrm>
          <a:prstGeom prst="rect">
            <a:avLst/>
          </a:prstGeom>
          <a:noFill/>
        </p:spPr>
        <p:txBody>
          <a:bodyPr wrap="square" lIns="0" tIns="0" rIns="0" bIns="0" anchor="t">
            <a:spAutoFit/>
          </a:bodyPr>
          <a:lstStyle/>
          <a:p>
            <a:pPr algn="l"/>
            <a:r>
              <a:rPr sz="1500" b="1" dirty="0">
                <a:solidFill>
                  <a:srgbClr val="61D2BD"/>
                </a:solidFill>
                <a:latin typeface="Helvetica Neue"/>
              </a:rPr>
              <a:t>Evidence to action</a:t>
            </a:r>
          </a:p>
        </p:txBody>
      </p:sp>
      <p:sp>
        <p:nvSpPr>
          <p:cNvPr id="68" name="TextBox 67"/>
          <p:cNvSpPr txBox="1"/>
          <p:nvPr/>
        </p:nvSpPr>
        <p:spPr>
          <a:xfrm>
            <a:off x="9262872" y="4416552"/>
            <a:ext cx="1984248" cy="228600"/>
          </a:xfrm>
          <a:prstGeom prst="rect">
            <a:avLst/>
          </a:prstGeom>
          <a:noFill/>
        </p:spPr>
        <p:txBody>
          <a:bodyPr wrap="square" lIns="0" tIns="0" rIns="0" bIns="0" anchor="t">
            <a:spAutoFit/>
          </a:bodyPr>
          <a:lstStyle/>
          <a:p>
            <a:pPr algn="l"/>
            <a:r>
              <a:rPr sz="1300" b="1">
                <a:solidFill>
                  <a:srgbClr val="61D2BD"/>
                </a:solidFill>
                <a:latin typeface="Helvetica Neue"/>
              </a:rPr>
              <a:t>SUMMARIZER</a:t>
            </a:r>
          </a:p>
        </p:txBody>
      </p:sp>
      <p:sp>
        <p:nvSpPr>
          <p:cNvPr id="69" name="TextBox 68"/>
          <p:cNvSpPr txBox="1"/>
          <p:nvPr/>
        </p:nvSpPr>
        <p:spPr>
          <a:xfrm>
            <a:off x="9262872" y="4718304"/>
            <a:ext cx="1984248" cy="320040"/>
          </a:xfrm>
          <a:prstGeom prst="rect">
            <a:avLst/>
          </a:prstGeom>
          <a:noFill/>
        </p:spPr>
        <p:txBody>
          <a:bodyPr wrap="square" lIns="0" tIns="0" rIns="0" bIns="0" anchor="t">
            <a:spAutoFit/>
          </a:bodyPr>
          <a:lstStyle/>
          <a:p>
            <a:pPr algn="l"/>
            <a:r>
              <a:rPr sz="1150" b="0" dirty="0">
                <a:solidFill>
                  <a:srgbClr val="A8BBCD"/>
                </a:solidFill>
                <a:latin typeface="Helvetica Neue"/>
              </a:rPr>
              <a:t>Order validated findings</a:t>
            </a:r>
          </a:p>
        </p:txBody>
      </p:sp>
      <p:sp>
        <p:nvSpPr>
          <p:cNvPr id="70" name="Rectangle 69"/>
          <p:cNvSpPr/>
          <p:nvPr/>
        </p:nvSpPr>
        <p:spPr>
          <a:xfrm>
            <a:off x="9262872" y="5166360"/>
            <a:ext cx="1984248" cy="11887"/>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9262872" y="5340096"/>
            <a:ext cx="1984248" cy="228600"/>
          </a:xfrm>
          <a:prstGeom prst="rect">
            <a:avLst/>
          </a:prstGeom>
          <a:noFill/>
        </p:spPr>
        <p:txBody>
          <a:bodyPr wrap="square" lIns="0" tIns="0" rIns="0" bIns="0" anchor="t">
            <a:spAutoFit/>
          </a:bodyPr>
          <a:lstStyle/>
          <a:p>
            <a:pPr algn="l"/>
            <a:r>
              <a:rPr sz="1300" b="1">
                <a:solidFill>
                  <a:srgbClr val="61D2BD"/>
                </a:solidFill>
                <a:latin typeface="Helvetica Neue"/>
              </a:rPr>
              <a:t>REMEDIATOR</a:t>
            </a:r>
          </a:p>
        </p:txBody>
      </p:sp>
      <p:sp>
        <p:nvSpPr>
          <p:cNvPr id="72" name="TextBox 71"/>
          <p:cNvSpPr txBox="1"/>
          <p:nvPr/>
        </p:nvSpPr>
        <p:spPr>
          <a:xfrm>
            <a:off x="9262872" y="5641848"/>
            <a:ext cx="1984248" cy="228600"/>
          </a:xfrm>
          <a:prstGeom prst="rect">
            <a:avLst/>
          </a:prstGeom>
          <a:noFill/>
        </p:spPr>
        <p:txBody>
          <a:bodyPr wrap="square" lIns="0" tIns="0" rIns="0" bIns="0" anchor="t">
            <a:spAutoFit/>
          </a:bodyPr>
          <a:lstStyle/>
          <a:p>
            <a:pPr algn="l"/>
            <a:r>
              <a:rPr sz="1100" b="0">
                <a:solidFill>
                  <a:srgbClr val="A8BBCD"/>
                </a:solidFill>
                <a:latin typeface="Helvetica Neue"/>
              </a:rPr>
              <a:t>Select reviewed fix recipes</a:t>
            </a:r>
          </a:p>
        </p:txBody>
      </p:sp>
      <p:sp>
        <p:nvSpPr>
          <p:cNvPr id="73" name="Chevron 72"/>
          <p:cNvSpPr/>
          <p:nvPr/>
        </p:nvSpPr>
        <p:spPr>
          <a:xfrm>
            <a:off x="2724912" y="4782312"/>
            <a:ext cx="128016" cy="210312"/>
          </a:xfrm>
          <a:prstGeom prst="chevron">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Chevron 73"/>
          <p:cNvSpPr/>
          <p:nvPr/>
        </p:nvSpPr>
        <p:spPr>
          <a:xfrm>
            <a:off x="6428232" y="4782312"/>
            <a:ext cx="128016" cy="210312"/>
          </a:xfrm>
          <a:prstGeom prst="chevron">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Chevron 74"/>
          <p:cNvSpPr/>
          <p:nvPr/>
        </p:nvSpPr>
        <p:spPr>
          <a:xfrm>
            <a:off x="8897112" y="4782312"/>
            <a:ext cx="128016" cy="210312"/>
          </a:xfrm>
          <a:prstGeom prst="chevron">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ectangle 75"/>
          <p:cNvSpPr/>
          <p:nvPr/>
        </p:nvSpPr>
        <p:spPr>
          <a:xfrm>
            <a:off x="777240" y="6263640"/>
            <a:ext cx="10637215" cy="13716"/>
          </a:xfrm>
          <a:prstGeom prst="rect">
            <a:avLst/>
          </a:prstGeom>
          <a:solidFill>
            <a:srgbClr val="304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ectangle 76"/>
          <p:cNvSpPr/>
          <p:nvPr/>
        </p:nvSpPr>
        <p:spPr>
          <a:xfrm>
            <a:off x="777240" y="6252667"/>
            <a:ext cx="1097280" cy="36576"/>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777240" y="6382512"/>
            <a:ext cx="5486400" cy="274320"/>
          </a:xfrm>
          <a:prstGeom prst="rect">
            <a:avLst/>
          </a:prstGeom>
          <a:noFill/>
        </p:spPr>
        <p:txBody>
          <a:bodyPr wrap="square" lIns="0" tIns="0" rIns="0" bIns="0" anchor="t">
            <a:spAutoFit/>
          </a:bodyPr>
          <a:lstStyle/>
          <a:p>
            <a:pPr algn="l"/>
            <a:r>
              <a:rPr sz="1000" b="0" spc="100">
                <a:solidFill>
                  <a:srgbClr val="A8BBCD"/>
                </a:solidFill>
                <a:latin typeface="Helvetica Neue"/>
              </a:rPr>
              <a:t>SAVED CASES  ·  REAL EXECUTION  ·  HUMAN APPROVAL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692</Words>
  <Application>Microsoft Macintosh PowerPoint</Application>
  <PresentationFormat>Widescreen</PresentationFormat>
  <Paragraphs>78</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Helvetica Neue</vt:lpstr>
      <vt:lpstr>Office Theme</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Jonathan Lee</cp:lastModifiedBy>
  <cp:revision>2</cp:revision>
  <dcterms:created xsi:type="dcterms:W3CDTF">2013-01-27T09:14:16Z</dcterms:created>
  <dcterms:modified xsi:type="dcterms:W3CDTF">2026-10-09T03:02:07Z</dcterms:modified>
  <cp:category/>
</cp:coreProperties>
</file>