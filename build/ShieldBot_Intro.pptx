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20" d="100"/>
          <a:sy n="120" d="100"/>
        </p:scale>
        <p:origin x="8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52635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 I'm Jonathan Lee, and I'm here with Sourav Chandra. Our project is Shield Bot: red-teaming for Snowflake Cortex Agents.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core problem. The customers we've seen build Cortex Agents, but they aren't sure how secure those agents really are.</a:t>
            </a:r>
          </a:p>
          <a:p>
            <a:endParaRPr/>
          </a:p>
          <a:p>
            <a:r>
              <a:t>These agents run SQL, search documents and call procedures with real privileges. Trying a few prompts by hand doesn't tell you what an agent will do when someone deliberately tries to misuse it, whether that's overriding its instructions, pulling personal data or going beyond the user's role. We need rigorous testing against the actual deployed agent, not a simulation of how we hope it behaves. A completed scan is evidence for that scope, not security certification.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Shieldbot, Testbot and Fixbot are the SnowBots chat interface; the named category, summary and remediation agents below are deployed Cortex Agents in AGENTSHIELD_DB.ORCH.</a:t>
            </a:r>
          </a:p>
          <a:p>
            <a:endParaRPr/>
          </a:p>
          <a:p>
            <a:r>
              <a:t>Shieldbot collects the target, categories and rigor, then hands off to Testbot. Testbot launches the campaign API. The reference table is AGENTSHIELD_DB.CORE.ATTACK_TEMPLATES: 120 security references, 15 per category, plus one benign baseline reference. References are not the test count. Each selected category generates 2 x rigor cases using the target's business context. Cases are validated and saved before execution for exact retests.</a:t>
            </a:r>
          </a:p>
          <a:p>
            <a:endParaRPr/>
          </a:p>
          <a:p>
            <a:r>
              <a:t>Four shared task workers claim category jobs. Each worker invokes the relevant CATEGORY_* agent to generate cases, then executes the saved cases sequentially through a persona-owned runner against the real target. Generation and execution occur within each category job; the diagram separates responsibilities, not global synchronization stages. These are existing specialist agents, not newly created agents for every scan. The four worker slots are shared across targets. Eight categories does not mean eight concurrent workers.</a:t>
            </a:r>
          </a:p>
          <a:p>
            <a:endParaRPr/>
          </a:p>
          <a:p>
            <a:r>
              <a:t>Responses, tool activity and SQL are retained. Deterministic checks and a structured judge produce verdicts; missing evidence stays inconclusive. SUMMARIZER orders validated finding IDs, while a deterministic renderer builds the report. REMEDIATOR selects eligible reviewed fix recipes; it cannot author arbitrary SQL or apply changes. Fixbot offers selections and a separate human approval for each agent. Saved cases support exact post-fix retests.</a:t>
            </a:r>
          </a:p>
          <a:p>
            <a:endParaRPr/>
          </a:p>
          <a:p>
            <a:r>
              <a:t>AGENTSHIELD is also deployed as the standalone Cortex coordination entry point. The current three-Snowbot handoff uses the campaign API directly, so AGENTSHIELD is not shown as a required hop. Live agent inventory and template counts were checked in demo sandbox ZSA35582, not the connected Snowhouse account. Worker behavior is grounded in project implementation. This is a sandbox prototype, not a security certification.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C1623"/>
        </a:solidFill>
        <a:effectLst/>
      </p:bgPr>
    </p:bg>
    <p:spTree>
      <p:nvGrpSpPr>
        <p:cNvPr id="1" name=""/>
        <p:cNvGrpSpPr/>
        <p:nvPr/>
      </p:nvGrpSpPr>
      <p:grpSpPr>
        <a:xfrm>
          <a:off x="0" y="0"/>
          <a:ext cx="0" cy="0"/>
          <a:chOff x="0" y="0"/>
          <a:chExt cx="0" cy="0"/>
        </a:xfrm>
      </p:grpSpPr>
      <p:sp>
        <p:nvSpPr>
          <p:cNvPr id="2" name="Oval 1"/>
          <p:cNvSpPr/>
          <p:nvPr/>
        </p:nvSpPr>
        <p:spPr>
          <a:xfrm>
            <a:off x="11094415" y="6126479"/>
            <a:ext cx="2560320" cy="2560320"/>
          </a:xfrm>
          <a:prstGeom prst="ellipse">
            <a:avLst/>
          </a:prstGeom>
          <a:noFill/>
          <a:ln w="19050">
            <a:solidFill>
              <a:srgbClr val="1A2E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271455" y="5303520"/>
            <a:ext cx="4206240" cy="4206240"/>
          </a:xfrm>
          <a:prstGeom prst="ellipse">
            <a:avLst/>
          </a:prstGeom>
          <a:noFill/>
          <a:ln w="19050">
            <a:solidFill>
              <a:srgbClr val="1A2E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448495" y="4480559"/>
            <a:ext cx="5852160" cy="5852160"/>
          </a:xfrm>
          <a:prstGeom prst="ellipse">
            <a:avLst/>
          </a:prstGeom>
          <a:noFill/>
          <a:ln w="19050">
            <a:solidFill>
              <a:srgbClr val="1A2E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828800" y="-1097280"/>
            <a:ext cx="2560320" cy="2560320"/>
          </a:xfrm>
          <a:prstGeom prst="ellipse">
            <a:avLst/>
          </a:prstGeom>
          <a:noFill/>
          <a:ln w="12700">
            <a:solidFill>
              <a:srgbClr val="1A2E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2560320" y="-1828800"/>
            <a:ext cx="4023360" cy="4023360"/>
          </a:xfrm>
          <a:prstGeom prst="ellipse">
            <a:avLst/>
          </a:prstGeom>
          <a:noFill/>
          <a:ln w="12700">
            <a:solidFill>
              <a:srgbClr val="1A2E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672084"/>
            <a:ext cx="82296" cy="6185916"/>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0" y="0"/>
            <a:ext cx="12191695" cy="658368"/>
          </a:xfrm>
          <a:prstGeom prst="rect">
            <a:avLst/>
          </a:prstGeom>
          <a:solidFill>
            <a:srgbClr val="122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58368"/>
            <a:ext cx="12191695" cy="13716"/>
          </a:xfrm>
          <a:prstGeom prst="rect">
            <a:avLst/>
          </a:prstGeom>
          <a:solidFill>
            <a:srgbClr val="3044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77240" y="182880"/>
            <a:ext cx="292608" cy="292608"/>
          </a:xfrm>
          <a:prstGeom prst="roundRect">
            <a:avLst/>
          </a:prstGeom>
          <a:solidFill>
            <a:srgbClr val="142F44"/>
          </a:solidFill>
          <a:ln w="25400">
            <a:solidFill>
              <a:srgbClr val="29B5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182880"/>
            <a:ext cx="292608" cy="292608"/>
          </a:xfrm>
          <a:prstGeom prst="rect">
            <a:avLst/>
          </a:prstGeom>
          <a:noFill/>
        </p:spPr>
        <p:txBody>
          <a:bodyPr wrap="square" lIns="0" tIns="0" rIns="0" bIns="0" anchor="ctr">
            <a:spAutoFit/>
          </a:bodyPr>
          <a:lstStyle/>
          <a:p>
            <a:pPr algn="ctr"/>
            <a:r>
              <a:rPr sz="1200" b="1">
                <a:solidFill>
                  <a:srgbClr val="60C7F0"/>
                </a:solidFill>
                <a:latin typeface="Helvetica Neue"/>
              </a:rPr>
              <a:t>S</a:t>
            </a:r>
          </a:p>
        </p:txBody>
      </p:sp>
      <p:sp>
        <p:nvSpPr>
          <p:cNvPr id="12" name="TextBox 11"/>
          <p:cNvSpPr txBox="1"/>
          <p:nvPr/>
        </p:nvSpPr>
        <p:spPr>
          <a:xfrm>
            <a:off x="1188720" y="182880"/>
            <a:ext cx="2743200" cy="292608"/>
          </a:xfrm>
          <a:prstGeom prst="rect">
            <a:avLst/>
          </a:prstGeom>
          <a:noFill/>
        </p:spPr>
        <p:txBody>
          <a:bodyPr wrap="square" lIns="0" tIns="0" rIns="0" bIns="0" anchor="ctr">
            <a:spAutoFit/>
          </a:bodyPr>
          <a:lstStyle/>
          <a:p>
            <a:pPr algn="l"/>
            <a:r>
              <a:rPr sz="1100" b="1" spc="120">
                <a:solidFill>
                  <a:srgbClr val="EDF5FF"/>
                </a:solidFill>
                <a:latin typeface="Helvetica Neue"/>
              </a:rPr>
              <a:t>SHIELD BOT</a:t>
            </a:r>
          </a:p>
        </p:txBody>
      </p:sp>
      <p:sp>
        <p:nvSpPr>
          <p:cNvPr id="13" name="TextBox 12"/>
          <p:cNvSpPr txBox="1"/>
          <p:nvPr/>
        </p:nvSpPr>
        <p:spPr>
          <a:xfrm>
            <a:off x="6842455" y="182880"/>
            <a:ext cx="4572000" cy="292608"/>
          </a:xfrm>
          <a:prstGeom prst="rect">
            <a:avLst/>
          </a:prstGeom>
          <a:noFill/>
        </p:spPr>
        <p:txBody>
          <a:bodyPr wrap="square" lIns="0" tIns="0" rIns="0" bIns="0" anchor="ctr">
            <a:spAutoFit/>
          </a:bodyPr>
          <a:lstStyle/>
          <a:p>
            <a:pPr algn="r"/>
            <a:r>
              <a:rPr sz="1100" b="0">
                <a:solidFill>
                  <a:srgbClr val="A8BBCD"/>
                </a:solidFill>
                <a:latin typeface="Helvetica Neue"/>
              </a:rPr>
              <a:t>Snowflake Cortex Agents  ·  Demo</a:t>
            </a:r>
          </a:p>
        </p:txBody>
      </p:sp>
      <p:sp>
        <p:nvSpPr>
          <p:cNvPr id="14" name="TextBox 13"/>
          <p:cNvSpPr txBox="1"/>
          <p:nvPr/>
        </p:nvSpPr>
        <p:spPr>
          <a:xfrm>
            <a:off x="777240" y="2103120"/>
            <a:ext cx="7315200" cy="1371600"/>
          </a:xfrm>
          <a:prstGeom prst="rect">
            <a:avLst/>
          </a:prstGeom>
          <a:noFill/>
        </p:spPr>
        <p:txBody>
          <a:bodyPr wrap="square" lIns="0" tIns="0" rIns="0" bIns="0" anchor="t">
            <a:spAutoFit/>
          </a:bodyPr>
          <a:lstStyle/>
          <a:p>
            <a:pPr algn="l"/>
            <a:r>
              <a:rPr sz="9600" b="1">
                <a:solidFill>
                  <a:srgbClr val="EDF5FF"/>
                </a:solidFill>
                <a:latin typeface="Helvetica Neue"/>
              </a:rPr>
              <a:t>Shield </a:t>
            </a:r>
            <a:r>
              <a:rPr sz="9600" b="1">
                <a:solidFill>
                  <a:srgbClr val="29B5E8"/>
                </a:solidFill>
                <a:latin typeface="Helvetica Neue"/>
              </a:rPr>
              <a:t>Bot</a:t>
            </a:r>
          </a:p>
        </p:txBody>
      </p:sp>
      <p:sp>
        <p:nvSpPr>
          <p:cNvPr id="15" name="Rounded Rectangle 14"/>
          <p:cNvSpPr/>
          <p:nvPr/>
        </p:nvSpPr>
        <p:spPr>
          <a:xfrm>
            <a:off x="777240" y="3703320"/>
            <a:ext cx="5623560" cy="475488"/>
          </a:xfrm>
          <a:prstGeom prst="roundRect">
            <a:avLst>
              <a:gd name="adj" fmla="val 50000"/>
            </a:avLst>
          </a:prstGeom>
          <a:solidFill>
            <a:srgbClr val="142F44"/>
          </a:solidFill>
          <a:ln w="15875">
            <a:solidFill>
              <a:srgbClr val="29B5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3703320"/>
            <a:ext cx="5623560" cy="475488"/>
          </a:xfrm>
          <a:prstGeom prst="rect">
            <a:avLst/>
          </a:prstGeom>
          <a:noFill/>
        </p:spPr>
        <p:txBody>
          <a:bodyPr wrap="square" lIns="0" tIns="0" rIns="0" bIns="0" anchor="ctr">
            <a:spAutoFit/>
          </a:bodyPr>
          <a:lstStyle/>
          <a:p>
            <a:pPr algn="ctr"/>
            <a:r>
              <a:rPr sz="1300" b="1" spc="180">
                <a:solidFill>
                  <a:srgbClr val="60C7F0"/>
                </a:solidFill>
                <a:latin typeface="Helvetica Neue"/>
              </a:rPr>
              <a:t>RED-TEAMING FOR SNOWFLAKE CORTEX AGENTS</a:t>
            </a:r>
          </a:p>
        </p:txBody>
      </p:sp>
      <p:sp>
        <p:nvSpPr>
          <p:cNvPr id="17" name="Rectangle 16"/>
          <p:cNvSpPr/>
          <p:nvPr/>
        </p:nvSpPr>
        <p:spPr>
          <a:xfrm>
            <a:off x="8001000" y="1417320"/>
            <a:ext cx="13716" cy="4343400"/>
          </a:xfrm>
          <a:prstGeom prst="rect">
            <a:avLst/>
          </a:prstGeom>
          <a:solidFill>
            <a:srgbClr val="3044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987283" y="1417320"/>
            <a:ext cx="41148" cy="640080"/>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12480" y="1417320"/>
            <a:ext cx="5486400" cy="274320"/>
          </a:xfrm>
          <a:prstGeom prst="rect">
            <a:avLst/>
          </a:prstGeom>
          <a:noFill/>
        </p:spPr>
        <p:txBody>
          <a:bodyPr wrap="square" lIns="0" tIns="0" rIns="0" bIns="0" anchor="t">
            <a:spAutoFit/>
          </a:bodyPr>
          <a:lstStyle/>
          <a:p>
            <a:pPr algn="l"/>
            <a:r>
              <a:rPr sz="1100" b="1" spc="200">
                <a:solidFill>
                  <a:srgbClr val="60C7F0"/>
                </a:solidFill>
                <a:latin typeface="Helvetica Neue"/>
              </a:rPr>
              <a:t>THE TEAM</a:t>
            </a:r>
          </a:p>
        </p:txBody>
      </p:sp>
      <p:sp>
        <p:nvSpPr>
          <p:cNvPr id="20" name="Rounded Rectangle 19"/>
          <p:cNvSpPr/>
          <p:nvPr/>
        </p:nvSpPr>
        <p:spPr>
          <a:xfrm>
            <a:off x="8412480" y="1828800"/>
            <a:ext cx="3017520" cy="841248"/>
          </a:xfrm>
          <a:prstGeom prst="roundRect">
            <a:avLst>
              <a:gd name="adj" fmla="val 12000"/>
            </a:avLst>
          </a:prstGeom>
          <a:solidFill>
            <a:srgbClr val="122132"/>
          </a:solidFill>
          <a:ln w="12700">
            <a:solidFill>
              <a:srgbClr val="3044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412480" y="2011680"/>
            <a:ext cx="45720" cy="475488"/>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641080" y="1975104"/>
            <a:ext cx="548640" cy="548640"/>
          </a:xfrm>
          <a:prstGeom prst="ellipse">
            <a:avLst/>
          </a:prstGeom>
          <a:solidFill>
            <a:srgbClr val="11567F"/>
          </a:solidFill>
          <a:ln w="38100">
            <a:solidFill>
              <a:srgbClr val="29B5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641080" y="1975104"/>
            <a:ext cx="548640" cy="548640"/>
          </a:xfrm>
          <a:prstGeom prst="rect">
            <a:avLst/>
          </a:prstGeom>
          <a:noFill/>
        </p:spPr>
        <p:txBody>
          <a:bodyPr wrap="square" lIns="0" tIns="0" rIns="0" bIns="0" anchor="ctr">
            <a:spAutoFit/>
          </a:bodyPr>
          <a:lstStyle/>
          <a:p>
            <a:pPr algn="ctr"/>
            <a:r>
              <a:rPr sz="1500" b="1">
                <a:solidFill>
                  <a:srgbClr val="EDF5FF"/>
                </a:solidFill>
                <a:latin typeface="Helvetica Neue"/>
              </a:rPr>
              <a:t>JL</a:t>
            </a:r>
          </a:p>
        </p:txBody>
      </p:sp>
      <p:sp>
        <p:nvSpPr>
          <p:cNvPr id="24" name="TextBox 23"/>
          <p:cNvSpPr txBox="1"/>
          <p:nvPr/>
        </p:nvSpPr>
        <p:spPr>
          <a:xfrm>
            <a:off x="9372600" y="1828800"/>
            <a:ext cx="2011680" cy="841248"/>
          </a:xfrm>
          <a:prstGeom prst="rect">
            <a:avLst/>
          </a:prstGeom>
          <a:noFill/>
        </p:spPr>
        <p:txBody>
          <a:bodyPr wrap="square" lIns="0" tIns="0" rIns="0" bIns="0" anchor="ctr">
            <a:spAutoFit/>
          </a:bodyPr>
          <a:lstStyle/>
          <a:p>
            <a:pPr algn="l"/>
            <a:r>
              <a:rPr sz="1900" b="1">
                <a:solidFill>
                  <a:srgbClr val="EDF5FF"/>
                </a:solidFill>
                <a:latin typeface="Helvetica Neue"/>
              </a:rPr>
              <a:t>Jonathan Lee</a:t>
            </a:r>
          </a:p>
        </p:txBody>
      </p:sp>
      <p:sp>
        <p:nvSpPr>
          <p:cNvPr id="25" name="Rounded Rectangle 24"/>
          <p:cNvSpPr/>
          <p:nvPr/>
        </p:nvSpPr>
        <p:spPr>
          <a:xfrm>
            <a:off x="8412480" y="2852928"/>
            <a:ext cx="3017520" cy="841248"/>
          </a:xfrm>
          <a:prstGeom prst="roundRect">
            <a:avLst>
              <a:gd name="adj" fmla="val 12000"/>
            </a:avLst>
          </a:prstGeom>
          <a:solidFill>
            <a:srgbClr val="122132"/>
          </a:solidFill>
          <a:ln w="12700">
            <a:solidFill>
              <a:srgbClr val="3044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412480" y="3035808"/>
            <a:ext cx="45720" cy="475488"/>
          </a:xfrm>
          <a:prstGeom prst="rect">
            <a:avLst/>
          </a:prstGeom>
          <a:solidFill>
            <a:srgbClr val="B9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641080" y="2999232"/>
            <a:ext cx="548640" cy="548640"/>
          </a:xfrm>
          <a:prstGeom prst="ellipse">
            <a:avLst/>
          </a:prstGeom>
          <a:solidFill>
            <a:srgbClr val="11567F"/>
          </a:solidFill>
          <a:ln w="38100">
            <a:solidFill>
              <a:srgbClr val="B9A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641080" y="2999232"/>
            <a:ext cx="548640" cy="548640"/>
          </a:xfrm>
          <a:prstGeom prst="rect">
            <a:avLst/>
          </a:prstGeom>
          <a:noFill/>
        </p:spPr>
        <p:txBody>
          <a:bodyPr wrap="square" lIns="0" tIns="0" rIns="0" bIns="0" anchor="ctr">
            <a:spAutoFit/>
          </a:bodyPr>
          <a:lstStyle/>
          <a:p>
            <a:pPr algn="ctr"/>
            <a:r>
              <a:rPr sz="1500" b="1">
                <a:solidFill>
                  <a:srgbClr val="EDF5FF"/>
                </a:solidFill>
                <a:latin typeface="Helvetica Neue"/>
              </a:rPr>
              <a:t>SC</a:t>
            </a:r>
          </a:p>
        </p:txBody>
      </p:sp>
      <p:sp>
        <p:nvSpPr>
          <p:cNvPr id="29" name="TextBox 28"/>
          <p:cNvSpPr txBox="1"/>
          <p:nvPr/>
        </p:nvSpPr>
        <p:spPr>
          <a:xfrm>
            <a:off x="9372600" y="2852928"/>
            <a:ext cx="2011680" cy="841248"/>
          </a:xfrm>
          <a:prstGeom prst="rect">
            <a:avLst/>
          </a:prstGeom>
          <a:noFill/>
        </p:spPr>
        <p:txBody>
          <a:bodyPr wrap="square" lIns="0" tIns="0" rIns="0" bIns="0" anchor="ctr">
            <a:spAutoFit/>
          </a:bodyPr>
          <a:lstStyle/>
          <a:p>
            <a:pPr algn="l"/>
            <a:r>
              <a:rPr sz="1900" b="1">
                <a:solidFill>
                  <a:srgbClr val="EDF5FF"/>
                </a:solidFill>
                <a:latin typeface="Helvetica Neue"/>
              </a:rPr>
              <a:t>Sourav Chandra</a:t>
            </a:r>
          </a:p>
        </p:txBody>
      </p:sp>
      <p:sp>
        <p:nvSpPr>
          <p:cNvPr id="30" name="Oval 29"/>
          <p:cNvSpPr/>
          <p:nvPr/>
        </p:nvSpPr>
        <p:spPr>
          <a:xfrm>
            <a:off x="9057131" y="3959352"/>
            <a:ext cx="1728216" cy="1728216"/>
          </a:xfrm>
          <a:prstGeom prst="ellipse">
            <a:avLst/>
          </a:prstGeom>
          <a:noFill/>
          <a:ln w="15875">
            <a:solidFill>
              <a:srgbClr val="29B5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hackathon_logo.png"/>
          <p:cNvPicPr>
            <a:picLocks noChangeAspect="1"/>
          </p:cNvPicPr>
          <p:nvPr/>
        </p:nvPicPr>
        <p:blipFill>
          <a:blip r:embed="rId3"/>
          <a:stretch>
            <a:fillRect/>
          </a:stretch>
        </p:blipFill>
        <p:spPr>
          <a:xfrm>
            <a:off x="9166859" y="4069080"/>
            <a:ext cx="1508760" cy="1508760"/>
          </a:xfrm>
          <a:prstGeom prst="rect">
            <a:avLst/>
          </a:prstGeom>
        </p:spPr>
      </p:pic>
      <p:sp>
        <p:nvSpPr>
          <p:cNvPr id="32" name="Rectangle 31"/>
          <p:cNvSpPr/>
          <p:nvPr/>
        </p:nvSpPr>
        <p:spPr>
          <a:xfrm>
            <a:off x="777240" y="6263640"/>
            <a:ext cx="10637215" cy="13716"/>
          </a:xfrm>
          <a:prstGeom prst="rect">
            <a:avLst/>
          </a:prstGeom>
          <a:solidFill>
            <a:srgbClr val="3044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77240" y="6252667"/>
            <a:ext cx="1097280" cy="36576"/>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77240" y="6382512"/>
            <a:ext cx="5486400" cy="274320"/>
          </a:xfrm>
          <a:prstGeom prst="rect">
            <a:avLst/>
          </a:prstGeom>
          <a:noFill/>
        </p:spPr>
        <p:txBody>
          <a:bodyPr wrap="square" lIns="0" tIns="0" rIns="0" bIns="0" anchor="t">
            <a:spAutoFit/>
          </a:bodyPr>
          <a:lstStyle/>
          <a:p>
            <a:pPr algn="l"/>
            <a:r>
              <a:rPr sz="1000" b="0" spc="100">
                <a:solidFill>
                  <a:srgbClr val="A8BBCD"/>
                </a:solidFill>
                <a:latin typeface="Helvetica Neue"/>
              </a:rPr>
              <a:t>DEMO RECORDING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C1623"/>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22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58368"/>
            <a:ext cx="12191695" cy="13716"/>
          </a:xfrm>
          <a:prstGeom prst="rect">
            <a:avLst/>
          </a:prstGeom>
          <a:solidFill>
            <a:srgbClr val="3044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77240" y="182880"/>
            <a:ext cx="292608" cy="292608"/>
          </a:xfrm>
          <a:prstGeom prst="roundRect">
            <a:avLst/>
          </a:prstGeom>
          <a:solidFill>
            <a:srgbClr val="142F44"/>
          </a:solidFill>
          <a:ln w="25400">
            <a:solidFill>
              <a:srgbClr val="29B5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82880"/>
            <a:ext cx="292608" cy="292608"/>
          </a:xfrm>
          <a:prstGeom prst="rect">
            <a:avLst/>
          </a:prstGeom>
          <a:noFill/>
        </p:spPr>
        <p:txBody>
          <a:bodyPr wrap="square" lIns="0" tIns="0" rIns="0" bIns="0" anchor="ctr">
            <a:spAutoFit/>
          </a:bodyPr>
          <a:lstStyle/>
          <a:p>
            <a:pPr algn="ctr"/>
            <a:r>
              <a:rPr sz="1200" b="1">
                <a:solidFill>
                  <a:srgbClr val="60C7F0"/>
                </a:solidFill>
                <a:latin typeface="Helvetica Neue"/>
              </a:rPr>
              <a:t>S</a:t>
            </a:r>
          </a:p>
        </p:txBody>
      </p:sp>
      <p:sp>
        <p:nvSpPr>
          <p:cNvPr id="6" name="TextBox 5"/>
          <p:cNvSpPr txBox="1"/>
          <p:nvPr/>
        </p:nvSpPr>
        <p:spPr>
          <a:xfrm>
            <a:off x="1188720" y="182880"/>
            <a:ext cx="2743200" cy="292608"/>
          </a:xfrm>
          <a:prstGeom prst="rect">
            <a:avLst/>
          </a:prstGeom>
          <a:noFill/>
        </p:spPr>
        <p:txBody>
          <a:bodyPr wrap="square" lIns="0" tIns="0" rIns="0" bIns="0" anchor="ctr">
            <a:spAutoFit/>
          </a:bodyPr>
          <a:lstStyle/>
          <a:p>
            <a:pPr algn="l"/>
            <a:r>
              <a:rPr sz="1100" b="1" spc="120">
                <a:solidFill>
                  <a:srgbClr val="EDF5FF"/>
                </a:solidFill>
                <a:latin typeface="Helvetica Neue"/>
              </a:rPr>
              <a:t>SHIELD BOT</a:t>
            </a:r>
          </a:p>
        </p:txBody>
      </p:sp>
      <p:pic>
        <p:nvPicPr>
          <p:cNvPr id="7" name="Picture 6" descr="hackathon_logo.png"/>
          <p:cNvPicPr>
            <a:picLocks noChangeAspect="1"/>
          </p:cNvPicPr>
          <p:nvPr/>
        </p:nvPicPr>
        <p:blipFill>
          <a:blip r:embed="rId3"/>
          <a:stretch>
            <a:fillRect/>
          </a:stretch>
        </p:blipFill>
        <p:spPr>
          <a:xfrm>
            <a:off x="10938967" y="91440"/>
            <a:ext cx="475488" cy="475488"/>
          </a:xfrm>
          <a:prstGeom prst="rect">
            <a:avLst/>
          </a:prstGeom>
        </p:spPr>
      </p:pic>
      <p:sp>
        <p:nvSpPr>
          <p:cNvPr id="8" name="Rectangle 7"/>
          <p:cNvSpPr/>
          <p:nvPr/>
        </p:nvSpPr>
        <p:spPr>
          <a:xfrm>
            <a:off x="10710367" y="182880"/>
            <a:ext cx="13716" cy="292608"/>
          </a:xfrm>
          <a:prstGeom prst="rect">
            <a:avLst/>
          </a:prstGeom>
          <a:solidFill>
            <a:srgbClr val="3044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55487" y="182880"/>
            <a:ext cx="4572000" cy="292608"/>
          </a:xfrm>
          <a:prstGeom prst="rect">
            <a:avLst/>
          </a:prstGeom>
          <a:noFill/>
        </p:spPr>
        <p:txBody>
          <a:bodyPr wrap="square" lIns="0" tIns="0" rIns="0" bIns="0" anchor="ctr">
            <a:spAutoFit/>
          </a:bodyPr>
          <a:lstStyle/>
          <a:p>
            <a:pPr algn="r"/>
            <a:r>
              <a:rPr sz="1100" b="0">
                <a:solidFill>
                  <a:srgbClr val="A8BBCD"/>
                </a:solidFill>
                <a:latin typeface="Helvetica Neue"/>
              </a:rPr>
              <a:t>The problem</a:t>
            </a:r>
          </a:p>
        </p:txBody>
      </p:sp>
      <p:sp>
        <p:nvSpPr>
          <p:cNvPr id="10" name="TextBox 9"/>
          <p:cNvSpPr txBox="1"/>
          <p:nvPr/>
        </p:nvSpPr>
        <p:spPr>
          <a:xfrm>
            <a:off x="777240" y="1389888"/>
            <a:ext cx="1554480" cy="731520"/>
          </a:xfrm>
          <a:prstGeom prst="rect">
            <a:avLst/>
          </a:prstGeom>
          <a:noFill/>
        </p:spPr>
        <p:txBody>
          <a:bodyPr wrap="square" lIns="0" tIns="0" rIns="0" bIns="0" anchor="t">
            <a:spAutoFit/>
          </a:bodyPr>
          <a:lstStyle/>
          <a:p>
            <a:pPr algn="l"/>
            <a:r>
              <a:rPr sz="4400" b="1">
                <a:solidFill>
                  <a:srgbClr val="29B5E8"/>
                </a:solidFill>
                <a:latin typeface="Helvetica Neue"/>
              </a:rPr>
              <a:t>01</a:t>
            </a:r>
          </a:p>
        </p:txBody>
      </p:sp>
      <p:sp>
        <p:nvSpPr>
          <p:cNvPr id="11" name="TextBox 10"/>
          <p:cNvSpPr txBox="1"/>
          <p:nvPr/>
        </p:nvSpPr>
        <p:spPr>
          <a:xfrm>
            <a:off x="777240" y="2121408"/>
            <a:ext cx="1645920" cy="274320"/>
          </a:xfrm>
          <a:prstGeom prst="rect">
            <a:avLst/>
          </a:prstGeom>
          <a:noFill/>
        </p:spPr>
        <p:txBody>
          <a:bodyPr wrap="square" lIns="0" tIns="0" rIns="0" bIns="0" anchor="t">
            <a:spAutoFit/>
          </a:bodyPr>
          <a:lstStyle/>
          <a:p>
            <a:pPr algn="l"/>
            <a:r>
              <a:rPr sz="1100" b="1" spc="200">
                <a:solidFill>
                  <a:srgbClr val="A8BBCD"/>
                </a:solidFill>
                <a:latin typeface="Helvetica Neue"/>
              </a:rPr>
              <a:t>PROBLEM</a:t>
            </a:r>
          </a:p>
        </p:txBody>
      </p:sp>
      <p:sp>
        <p:nvSpPr>
          <p:cNvPr id="12" name="Rectangle 11"/>
          <p:cNvSpPr/>
          <p:nvPr/>
        </p:nvSpPr>
        <p:spPr>
          <a:xfrm>
            <a:off x="2377440" y="1463040"/>
            <a:ext cx="13716" cy="3840480"/>
          </a:xfrm>
          <a:prstGeom prst="rect">
            <a:avLst/>
          </a:prstGeom>
          <a:solidFill>
            <a:srgbClr val="3044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363724" y="1463040"/>
            <a:ext cx="41148" cy="731520"/>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43200" y="1417320"/>
            <a:ext cx="8671255" cy="1243161"/>
          </a:xfrm>
          <a:prstGeom prst="rect">
            <a:avLst/>
          </a:prstGeom>
          <a:noFill/>
        </p:spPr>
        <p:txBody>
          <a:bodyPr wrap="square" lIns="0" tIns="0" rIns="0" bIns="0" anchor="t">
            <a:spAutoFit/>
          </a:bodyPr>
          <a:lstStyle/>
          <a:p>
            <a:pPr algn="l">
              <a:lnSpc>
                <a:spcPct val="105000"/>
              </a:lnSpc>
            </a:pPr>
            <a:r>
              <a:rPr sz="4000" b="1" dirty="0">
                <a:solidFill>
                  <a:srgbClr val="EDF5FF"/>
                </a:solidFill>
                <a:latin typeface="Helvetica Neue"/>
              </a:rPr>
              <a:t>Customers aren't sure the agents they build are secure.</a:t>
            </a:r>
          </a:p>
        </p:txBody>
      </p:sp>
      <p:sp>
        <p:nvSpPr>
          <p:cNvPr id="15" name="TextBox 14"/>
          <p:cNvSpPr txBox="1"/>
          <p:nvPr/>
        </p:nvSpPr>
        <p:spPr>
          <a:xfrm>
            <a:off x="2743200" y="3657600"/>
            <a:ext cx="8671255" cy="868680"/>
          </a:xfrm>
          <a:prstGeom prst="rect">
            <a:avLst/>
          </a:prstGeom>
          <a:noFill/>
        </p:spPr>
        <p:txBody>
          <a:bodyPr wrap="square" lIns="0" tIns="0" rIns="0" bIns="0" anchor="t">
            <a:spAutoFit/>
          </a:bodyPr>
          <a:lstStyle/>
          <a:p>
            <a:pPr algn="l"/>
            <a:r>
              <a:rPr sz="3000" b="1">
                <a:solidFill>
                  <a:srgbClr val="29B5E8"/>
                </a:solidFill>
                <a:latin typeface="Helvetica Neue"/>
              </a:rPr>
              <a:t>That takes rigorous testing to answer.</a:t>
            </a:r>
          </a:p>
        </p:txBody>
      </p:sp>
      <p:sp>
        <p:nvSpPr>
          <p:cNvPr id="16" name="Rounded Rectangle 15"/>
          <p:cNvSpPr/>
          <p:nvPr/>
        </p:nvSpPr>
        <p:spPr>
          <a:xfrm>
            <a:off x="2743200" y="4892040"/>
            <a:ext cx="1993391" cy="384048"/>
          </a:xfrm>
          <a:prstGeom prst="roundRect">
            <a:avLst>
              <a:gd name="adj" fmla="val 50000"/>
            </a:avLst>
          </a:prstGeom>
          <a:solidFill>
            <a:srgbClr val="142F44"/>
          </a:solidFill>
          <a:ln w="12700">
            <a:solidFill>
              <a:srgbClr val="60C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43200" y="4892040"/>
            <a:ext cx="1993391" cy="384048"/>
          </a:xfrm>
          <a:prstGeom prst="rect">
            <a:avLst/>
          </a:prstGeom>
          <a:noFill/>
        </p:spPr>
        <p:txBody>
          <a:bodyPr wrap="square" lIns="0" tIns="0" rIns="0" bIns="0" anchor="ctr">
            <a:spAutoFit/>
          </a:bodyPr>
          <a:lstStyle/>
          <a:p>
            <a:pPr algn="ctr"/>
            <a:r>
              <a:rPr sz="1200" b="1">
                <a:solidFill>
                  <a:srgbClr val="60C7F0"/>
                </a:solidFill>
                <a:latin typeface="Helvetica Neue"/>
              </a:rPr>
              <a:t>Real SQL &amp; tools</a:t>
            </a:r>
          </a:p>
        </p:txBody>
      </p:sp>
      <p:sp>
        <p:nvSpPr>
          <p:cNvPr id="18" name="Rounded Rectangle 17"/>
          <p:cNvSpPr/>
          <p:nvPr/>
        </p:nvSpPr>
        <p:spPr>
          <a:xfrm>
            <a:off x="4919472" y="4892040"/>
            <a:ext cx="1897380" cy="384048"/>
          </a:xfrm>
          <a:prstGeom prst="roundRect">
            <a:avLst>
              <a:gd name="adj" fmla="val 50000"/>
            </a:avLst>
          </a:prstGeom>
          <a:solidFill>
            <a:srgbClr val="28243E"/>
          </a:solidFill>
          <a:ln w="12700">
            <a:solidFill>
              <a:srgbClr val="B9A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919472" y="4892040"/>
            <a:ext cx="1897380" cy="384048"/>
          </a:xfrm>
          <a:prstGeom prst="rect">
            <a:avLst/>
          </a:prstGeom>
          <a:noFill/>
        </p:spPr>
        <p:txBody>
          <a:bodyPr wrap="square" lIns="0" tIns="0" rIns="0" bIns="0" anchor="ctr">
            <a:spAutoFit/>
          </a:bodyPr>
          <a:lstStyle/>
          <a:p>
            <a:pPr algn="ctr"/>
            <a:r>
              <a:rPr sz="1200" b="1">
                <a:solidFill>
                  <a:srgbClr val="B9A8FF"/>
                </a:solidFill>
                <a:latin typeface="Helvetica Neue"/>
              </a:rPr>
              <a:t>Real privileges</a:t>
            </a:r>
          </a:p>
        </p:txBody>
      </p:sp>
      <p:sp>
        <p:nvSpPr>
          <p:cNvPr id="20" name="Rounded Rectangle 19"/>
          <p:cNvSpPr/>
          <p:nvPr/>
        </p:nvSpPr>
        <p:spPr>
          <a:xfrm>
            <a:off x="6999732" y="4892040"/>
            <a:ext cx="2569464" cy="384048"/>
          </a:xfrm>
          <a:prstGeom prst="roundRect">
            <a:avLst>
              <a:gd name="adj" fmla="val 50000"/>
            </a:avLst>
          </a:prstGeom>
          <a:solidFill>
            <a:srgbClr val="12332F"/>
          </a:solidFill>
          <a:ln w="12700">
            <a:solidFill>
              <a:srgbClr val="61D2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99732" y="4892040"/>
            <a:ext cx="2569464" cy="384048"/>
          </a:xfrm>
          <a:prstGeom prst="rect">
            <a:avLst/>
          </a:prstGeom>
          <a:noFill/>
        </p:spPr>
        <p:txBody>
          <a:bodyPr wrap="square" lIns="0" tIns="0" rIns="0" bIns="0" anchor="ctr">
            <a:spAutoFit/>
          </a:bodyPr>
          <a:lstStyle/>
          <a:p>
            <a:pPr algn="ctr"/>
            <a:r>
              <a:rPr sz="1200" b="1">
                <a:solidFill>
                  <a:srgbClr val="61D2BD"/>
                </a:solidFill>
                <a:latin typeface="Helvetica Neue"/>
              </a:rPr>
              <a:t>Manual prompts miss it</a:t>
            </a:r>
          </a:p>
        </p:txBody>
      </p:sp>
      <p:sp>
        <p:nvSpPr>
          <p:cNvPr id="22" name="Rectangle 21"/>
          <p:cNvSpPr/>
          <p:nvPr/>
        </p:nvSpPr>
        <p:spPr>
          <a:xfrm>
            <a:off x="777240" y="6263640"/>
            <a:ext cx="10637215" cy="13716"/>
          </a:xfrm>
          <a:prstGeom prst="rect">
            <a:avLst/>
          </a:prstGeom>
          <a:solidFill>
            <a:srgbClr val="3044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77240" y="6252667"/>
            <a:ext cx="1097280" cy="36576"/>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7240" y="6382512"/>
            <a:ext cx="5486400" cy="274320"/>
          </a:xfrm>
          <a:prstGeom prst="rect">
            <a:avLst/>
          </a:prstGeom>
          <a:noFill/>
        </p:spPr>
        <p:txBody>
          <a:bodyPr wrap="square" lIns="0" tIns="0" rIns="0" bIns="0" anchor="t">
            <a:spAutoFit/>
          </a:bodyPr>
          <a:lstStyle/>
          <a:p>
            <a:pPr algn="l"/>
            <a:r>
              <a:rPr sz="1000" b="0" spc="100">
                <a:solidFill>
                  <a:srgbClr val="A8BBCD"/>
                </a:solidFill>
                <a:latin typeface="Helvetica Neue"/>
              </a:rPr>
              <a:t>SHIELD BOT  ·  RED-TEAMING FOR SNOWFLAKE CORTEX AGENTS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C1623"/>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22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58368"/>
            <a:ext cx="12191695" cy="13716"/>
          </a:xfrm>
          <a:prstGeom prst="rect">
            <a:avLst/>
          </a:prstGeom>
          <a:solidFill>
            <a:srgbClr val="3044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77240" y="182880"/>
            <a:ext cx="292608" cy="292608"/>
          </a:xfrm>
          <a:prstGeom prst="roundRect">
            <a:avLst/>
          </a:prstGeom>
          <a:solidFill>
            <a:srgbClr val="142F44"/>
          </a:solidFill>
          <a:ln w="25400">
            <a:solidFill>
              <a:srgbClr val="29B5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82880"/>
            <a:ext cx="292608" cy="292608"/>
          </a:xfrm>
          <a:prstGeom prst="rect">
            <a:avLst/>
          </a:prstGeom>
          <a:noFill/>
        </p:spPr>
        <p:txBody>
          <a:bodyPr wrap="square" lIns="0" tIns="0" rIns="0" bIns="0" anchor="ctr">
            <a:spAutoFit/>
          </a:bodyPr>
          <a:lstStyle/>
          <a:p>
            <a:pPr algn="ctr"/>
            <a:r>
              <a:rPr sz="1200" b="1">
                <a:solidFill>
                  <a:srgbClr val="60C7F0"/>
                </a:solidFill>
                <a:latin typeface="Helvetica Neue"/>
              </a:rPr>
              <a:t>S</a:t>
            </a:r>
          </a:p>
        </p:txBody>
      </p:sp>
      <p:sp>
        <p:nvSpPr>
          <p:cNvPr id="6" name="TextBox 5"/>
          <p:cNvSpPr txBox="1"/>
          <p:nvPr/>
        </p:nvSpPr>
        <p:spPr>
          <a:xfrm>
            <a:off x="1188720" y="182880"/>
            <a:ext cx="2743200" cy="292608"/>
          </a:xfrm>
          <a:prstGeom prst="rect">
            <a:avLst/>
          </a:prstGeom>
          <a:noFill/>
        </p:spPr>
        <p:txBody>
          <a:bodyPr wrap="square" lIns="0" tIns="0" rIns="0" bIns="0" anchor="ctr">
            <a:spAutoFit/>
          </a:bodyPr>
          <a:lstStyle/>
          <a:p>
            <a:pPr algn="l"/>
            <a:r>
              <a:rPr sz="1100" b="1" spc="120">
                <a:solidFill>
                  <a:srgbClr val="EDF5FF"/>
                </a:solidFill>
                <a:latin typeface="Helvetica Neue"/>
              </a:rPr>
              <a:t>SHIELD BOT</a:t>
            </a:r>
          </a:p>
        </p:txBody>
      </p:sp>
      <p:pic>
        <p:nvPicPr>
          <p:cNvPr id="7" name="Picture 6" descr="hackathon_logo.png"/>
          <p:cNvPicPr>
            <a:picLocks noChangeAspect="1"/>
          </p:cNvPicPr>
          <p:nvPr/>
        </p:nvPicPr>
        <p:blipFill>
          <a:blip r:embed="rId3"/>
          <a:stretch>
            <a:fillRect/>
          </a:stretch>
        </p:blipFill>
        <p:spPr>
          <a:xfrm>
            <a:off x="10938967" y="91440"/>
            <a:ext cx="475488" cy="475488"/>
          </a:xfrm>
          <a:prstGeom prst="rect">
            <a:avLst/>
          </a:prstGeom>
        </p:spPr>
      </p:pic>
      <p:sp>
        <p:nvSpPr>
          <p:cNvPr id="8" name="Rectangle 7"/>
          <p:cNvSpPr/>
          <p:nvPr/>
        </p:nvSpPr>
        <p:spPr>
          <a:xfrm>
            <a:off x="10710367" y="182880"/>
            <a:ext cx="13716" cy="292608"/>
          </a:xfrm>
          <a:prstGeom prst="rect">
            <a:avLst/>
          </a:prstGeom>
          <a:solidFill>
            <a:srgbClr val="3044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55487" y="182880"/>
            <a:ext cx="4572000" cy="292608"/>
          </a:xfrm>
          <a:prstGeom prst="rect">
            <a:avLst/>
          </a:prstGeom>
          <a:noFill/>
        </p:spPr>
        <p:txBody>
          <a:bodyPr wrap="square" lIns="0" tIns="0" rIns="0" bIns="0" anchor="ctr">
            <a:spAutoFit/>
          </a:bodyPr>
          <a:lstStyle/>
          <a:p>
            <a:pPr algn="r"/>
            <a:r>
              <a:rPr sz="1100" b="0">
                <a:solidFill>
                  <a:srgbClr val="A8BBCD"/>
                </a:solidFill>
                <a:latin typeface="Helvetica Neue"/>
              </a:rPr>
              <a:t>The solution  ·  Under the hood</a:t>
            </a:r>
          </a:p>
        </p:txBody>
      </p:sp>
      <p:sp>
        <p:nvSpPr>
          <p:cNvPr id="10" name="TextBox 9"/>
          <p:cNvSpPr txBox="1"/>
          <p:nvPr/>
        </p:nvSpPr>
        <p:spPr>
          <a:xfrm>
            <a:off x="777240" y="914400"/>
            <a:ext cx="822960" cy="502920"/>
          </a:xfrm>
          <a:prstGeom prst="rect">
            <a:avLst/>
          </a:prstGeom>
          <a:noFill/>
        </p:spPr>
        <p:txBody>
          <a:bodyPr wrap="square" lIns="0" tIns="0" rIns="0" bIns="0" anchor="t">
            <a:spAutoFit/>
          </a:bodyPr>
          <a:lstStyle/>
          <a:p>
            <a:pPr algn="l"/>
            <a:r>
              <a:rPr sz="3200" b="1">
                <a:solidFill>
                  <a:srgbClr val="B9A8FF"/>
                </a:solidFill>
                <a:latin typeface="Helvetica Neue"/>
              </a:rPr>
              <a:t>02</a:t>
            </a:r>
          </a:p>
        </p:txBody>
      </p:sp>
      <p:sp>
        <p:nvSpPr>
          <p:cNvPr id="11" name="TextBox 10"/>
          <p:cNvSpPr txBox="1"/>
          <p:nvPr/>
        </p:nvSpPr>
        <p:spPr>
          <a:xfrm>
            <a:off x="1645920" y="914400"/>
            <a:ext cx="9601200" cy="502920"/>
          </a:xfrm>
          <a:prstGeom prst="rect">
            <a:avLst/>
          </a:prstGeom>
          <a:noFill/>
        </p:spPr>
        <p:txBody>
          <a:bodyPr wrap="square" lIns="0" tIns="0" rIns="0" bIns="0" anchor="t">
            <a:spAutoFit/>
          </a:bodyPr>
          <a:lstStyle/>
          <a:p>
            <a:pPr algn="l"/>
            <a:r>
              <a:rPr sz="2900" b="1">
                <a:solidFill>
                  <a:srgbClr val="EDF5FF"/>
                </a:solidFill>
                <a:latin typeface="Helvetica Neue"/>
              </a:rPr>
              <a:t>Three bots. One evidence-driven workflow.</a:t>
            </a:r>
          </a:p>
        </p:txBody>
      </p:sp>
      <p:sp>
        <p:nvSpPr>
          <p:cNvPr id="12" name="TextBox 11"/>
          <p:cNvSpPr txBox="1"/>
          <p:nvPr/>
        </p:nvSpPr>
        <p:spPr>
          <a:xfrm>
            <a:off x="777240" y="1508760"/>
            <a:ext cx="10637215" cy="411480"/>
          </a:xfrm>
          <a:prstGeom prst="rect">
            <a:avLst/>
          </a:prstGeom>
          <a:noFill/>
        </p:spPr>
        <p:txBody>
          <a:bodyPr wrap="square" lIns="0" tIns="0" rIns="0" bIns="0" anchor="t">
            <a:spAutoFit/>
          </a:bodyPr>
          <a:lstStyle/>
          <a:p>
            <a:pPr algn="l"/>
            <a:r>
              <a:rPr sz="1700" b="0">
                <a:solidFill>
                  <a:srgbClr val="A8BBCD"/>
                </a:solidFill>
                <a:latin typeface="Helvetica Neue"/>
              </a:rPr>
              <a:t>Shield Bot tests real, deployed agents and turns findings into human-approved fixes.</a:t>
            </a:r>
          </a:p>
        </p:txBody>
      </p:sp>
      <p:sp>
        <p:nvSpPr>
          <p:cNvPr id="13" name="Rounded Rectangle 12"/>
          <p:cNvSpPr/>
          <p:nvPr/>
        </p:nvSpPr>
        <p:spPr>
          <a:xfrm>
            <a:off x="777240" y="2084831"/>
            <a:ext cx="3271418" cy="850392"/>
          </a:xfrm>
          <a:prstGeom prst="roundRect">
            <a:avLst>
              <a:gd name="adj" fmla="val 10000"/>
            </a:avLst>
          </a:prstGeom>
          <a:solidFill>
            <a:srgbClr val="122132"/>
          </a:solidFill>
          <a:ln w="12700">
            <a:solidFill>
              <a:srgbClr val="3044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960120" y="2084831"/>
            <a:ext cx="2905658" cy="41148"/>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960120" y="2276856"/>
            <a:ext cx="438912" cy="438912"/>
          </a:xfrm>
          <a:prstGeom prst="ellipse">
            <a:avLst/>
          </a:prstGeom>
          <a:solidFill>
            <a:srgbClr val="11567F"/>
          </a:solidFill>
          <a:ln w="38100">
            <a:solidFill>
              <a:srgbClr val="29B5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0120" y="2276856"/>
            <a:ext cx="438912" cy="438912"/>
          </a:xfrm>
          <a:prstGeom prst="rect">
            <a:avLst/>
          </a:prstGeom>
          <a:noFill/>
        </p:spPr>
        <p:txBody>
          <a:bodyPr wrap="square" lIns="0" tIns="0" rIns="0" bIns="0" anchor="ctr">
            <a:spAutoFit/>
          </a:bodyPr>
          <a:lstStyle/>
          <a:p>
            <a:pPr algn="ctr"/>
            <a:r>
              <a:rPr sz="1300" b="1">
                <a:solidFill>
                  <a:srgbClr val="EDF5FF"/>
                </a:solidFill>
                <a:latin typeface="Helvetica Neue"/>
              </a:rPr>
              <a:t>1</a:t>
            </a:r>
          </a:p>
        </p:txBody>
      </p:sp>
      <p:sp>
        <p:nvSpPr>
          <p:cNvPr id="17" name="TextBox 16"/>
          <p:cNvSpPr txBox="1"/>
          <p:nvPr/>
        </p:nvSpPr>
        <p:spPr>
          <a:xfrm>
            <a:off x="1554480" y="2221992"/>
            <a:ext cx="2357018" cy="292608"/>
          </a:xfrm>
          <a:prstGeom prst="rect">
            <a:avLst/>
          </a:prstGeom>
          <a:noFill/>
        </p:spPr>
        <p:txBody>
          <a:bodyPr wrap="square" lIns="0" tIns="0" rIns="0" bIns="0" anchor="t">
            <a:spAutoFit/>
          </a:bodyPr>
          <a:lstStyle/>
          <a:p>
            <a:pPr algn="l"/>
            <a:r>
              <a:rPr sz="1900" b="1">
                <a:solidFill>
                  <a:srgbClr val="EDF5FF"/>
                </a:solidFill>
                <a:latin typeface="Helvetica Neue"/>
              </a:rPr>
              <a:t>Shieldbot</a:t>
            </a:r>
          </a:p>
        </p:txBody>
      </p:sp>
      <p:sp>
        <p:nvSpPr>
          <p:cNvPr id="18" name="TextBox 17"/>
          <p:cNvSpPr txBox="1"/>
          <p:nvPr/>
        </p:nvSpPr>
        <p:spPr>
          <a:xfrm>
            <a:off x="1554480" y="2615184"/>
            <a:ext cx="2357018" cy="228600"/>
          </a:xfrm>
          <a:prstGeom prst="rect">
            <a:avLst/>
          </a:prstGeom>
          <a:noFill/>
        </p:spPr>
        <p:txBody>
          <a:bodyPr wrap="square" lIns="0" tIns="0" rIns="0" bIns="0" anchor="t">
            <a:spAutoFit/>
          </a:bodyPr>
          <a:lstStyle/>
          <a:p>
            <a:pPr algn="l"/>
            <a:r>
              <a:rPr sz="1100" b="0">
                <a:solidFill>
                  <a:srgbClr val="A8BBCD"/>
                </a:solidFill>
                <a:latin typeface="Helvetica Neue"/>
              </a:rPr>
              <a:t>Choose targets, categories &amp; rigor</a:t>
            </a:r>
          </a:p>
        </p:txBody>
      </p:sp>
      <p:sp>
        <p:nvSpPr>
          <p:cNvPr id="19" name="Chevron 18"/>
          <p:cNvSpPr/>
          <p:nvPr/>
        </p:nvSpPr>
        <p:spPr>
          <a:xfrm>
            <a:off x="4167530" y="2386584"/>
            <a:ext cx="173736" cy="237744"/>
          </a:xfrm>
          <a:prstGeom prst="chevron">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460138" y="2084831"/>
            <a:ext cx="3271418" cy="850392"/>
          </a:xfrm>
          <a:prstGeom prst="roundRect">
            <a:avLst>
              <a:gd name="adj" fmla="val 10000"/>
            </a:avLst>
          </a:prstGeom>
          <a:solidFill>
            <a:srgbClr val="122132"/>
          </a:solidFill>
          <a:ln w="12700">
            <a:solidFill>
              <a:srgbClr val="3044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643018" y="2084831"/>
            <a:ext cx="2905658" cy="41148"/>
          </a:xfrm>
          <a:prstGeom prst="rect">
            <a:avLst/>
          </a:prstGeom>
          <a:solidFill>
            <a:srgbClr val="B9A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4643018" y="2276856"/>
            <a:ext cx="438912" cy="438912"/>
          </a:xfrm>
          <a:prstGeom prst="ellipse">
            <a:avLst/>
          </a:prstGeom>
          <a:solidFill>
            <a:srgbClr val="11567F"/>
          </a:solidFill>
          <a:ln w="38100">
            <a:solidFill>
              <a:srgbClr val="B9A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43018" y="2276856"/>
            <a:ext cx="438912" cy="438912"/>
          </a:xfrm>
          <a:prstGeom prst="rect">
            <a:avLst/>
          </a:prstGeom>
          <a:noFill/>
        </p:spPr>
        <p:txBody>
          <a:bodyPr wrap="square" lIns="0" tIns="0" rIns="0" bIns="0" anchor="ctr">
            <a:spAutoFit/>
          </a:bodyPr>
          <a:lstStyle/>
          <a:p>
            <a:pPr algn="ctr"/>
            <a:r>
              <a:rPr sz="1300" b="1">
                <a:solidFill>
                  <a:srgbClr val="EDF5FF"/>
                </a:solidFill>
                <a:latin typeface="Helvetica Neue"/>
              </a:rPr>
              <a:t>2</a:t>
            </a:r>
          </a:p>
        </p:txBody>
      </p:sp>
      <p:sp>
        <p:nvSpPr>
          <p:cNvPr id="24" name="TextBox 23"/>
          <p:cNvSpPr txBox="1"/>
          <p:nvPr/>
        </p:nvSpPr>
        <p:spPr>
          <a:xfrm>
            <a:off x="5237378" y="2221992"/>
            <a:ext cx="2357018" cy="292608"/>
          </a:xfrm>
          <a:prstGeom prst="rect">
            <a:avLst/>
          </a:prstGeom>
          <a:noFill/>
        </p:spPr>
        <p:txBody>
          <a:bodyPr wrap="square" lIns="0" tIns="0" rIns="0" bIns="0" anchor="t">
            <a:spAutoFit/>
          </a:bodyPr>
          <a:lstStyle/>
          <a:p>
            <a:pPr algn="l"/>
            <a:r>
              <a:rPr sz="1900" b="1">
                <a:solidFill>
                  <a:srgbClr val="EDF5FF"/>
                </a:solidFill>
                <a:latin typeface="Helvetica Neue"/>
              </a:rPr>
              <a:t>Testbot</a:t>
            </a:r>
          </a:p>
        </p:txBody>
      </p:sp>
      <p:sp>
        <p:nvSpPr>
          <p:cNvPr id="25" name="TextBox 24"/>
          <p:cNvSpPr txBox="1"/>
          <p:nvPr/>
        </p:nvSpPr>
        <p:spPr>
          <a:xfrm>
            <a:off x="5237378" y="2615184"/>
            <a:ext cx="2357018" cy="169277"/>
          </a:xfrm>
          <a:prstGeom prst="rect">
            <a:avLst/>
          </a:prstGeom>
          <a:noFill/>
        </p:spPr>
        <p:txBody>
          <a:bodyPr wrap="square" lIns="0" tIns="0" rIns="0" bIns="0" anchor="t">
            <a:spAutoFit/>
          </a:bodyPr>
          <a:lstStyle/>
          <a:p>
            <a:pPr algn="l"/>
            <a:r>
              <a:rPr sz="1100" b="0" dirty="0">
                <a:solidFill>
                  <a:srgbClr val="A8BBCD"/>
                </a:solidFill>
                <a:latin typeface="Helvetica Neue"/>
              </a:rPr>
              <a:t>Launch tests </a:t>
            </a:r>
            <a:r>
              <a:rPr lang="en-US" sz="1100" b="0" dirty="0">
                <a:solidFill>
                  <a:srgbClr val="A8BBCD"/>
                </a:solidFill>
                <a:latin typeface="Helvetica Neue"/>
              </a:rPr>
              <a:t>and reports results</a:t>
            </a:r>
            <a:endParaRPr sz="1100" b="0" dirty="0">
              <a:solidFill>
                <a:srgbClr val="A8BBCD"/>
              </a:solidFill>
              <a:latin typeface="Helvetica Neue"/>
            </a:endParaRPr>
          </a:p>
        </p:txBody>
      </p:sp>
      <p:sp>
        <p:nvSpPr>
          <p:cNvPr id="26" name="Chevron 25"/>
          <p:cNvSpPr/>
          <p:nvPr/>
        </p:nvSpPr>
        <p:spPr>
          <a:xfrm>
            <a:off x="7850428" y="2386584"/>
            <a:ext cx="173736" cy="237744"/>
          </a:xfrm>
          <a:prstGeom prst="chevron">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143036" y="2084831"/>
            <a:ext cx="3271418" cy="850392"/>
          </a:xfrm>
          <a:prstGeom prst="roundRect">
            <a:avLst>
              <a:gd name="adj" fmla="val 10000"/>
            </a:avLst>
          </a:prstGeom>
          <a:solidFill>
            <a:srgbClr val="122132"/>
          </a:solidFill>
          <a:ln w="12700">
            <a:solidFill>
              <a:srgbClr val="3044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325916" y="2084831"/>
            <a:ext cx="2905658" cy="41148"/>
          </a:xfrm>
          <a:prstGeom prst="rect">
            <a:avLst/>
          </a:prstGeom>
          <a:solidFill>
            <a:srgbClr val="61D2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8325916" y="2276856"/>
            <a:ext cx="438912" cy="438912"/>
          </a:xfrm>
          <a:prstGeom prst="ellipse">
            <a:avLst/>
          </a:prstGeom>
          <a:solidFill>
            <a:srgbClr val="11567F"/>
          </a:solidFill>
          <a:ln w="38100">
            <a:solidFill>
              <a:srgbClr val="61D2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325916" y="2276856"/>
            <a:ext cx="438912" cy="438912"/>
          </a:xfrm>
          <a:prstGeom prst="rect">
            <a:avLst/>
          </a:prstGeom>
          <a:noFill/>
        </p:spPr>
        <p:txBody>
          <a:bodyPr wrap="square" lIns="0" tIns="0" rIns="0" bIns="0" anchor="ctr">
            <a:spAutoFit/>
          </a:bodyPr>
          <a:lstStyle/>
          <a:p>
            <a:pPr algn="ctr"/>
            <a:r>
              <a:rPr sz="1300" b="1">
                <a:solidFill>
                  <a:srgbClr val="EDF5FF"/>
                </a:solidFill>
                <a:latin typeface="Helvetica Neue"/>
              </a:rPr>
              <a:t>3</a:t>
            </a:r>
          </a:p>
        </p:txBody>
      </p:sp>
      <p:sp>
        <p:nvSpPr>
          <p:cNvPr id="31" name="TextBox 30"/>
          <p:cNvSpPr txBox="1"/>
          <p:nvPr/>
        </p:nvSpPr>
        <p:spPr>
          <a:xfrm>
            <a:off x="8920276" y="2221992"/>
            <a:ext cx="2357018" cy="292608"/>
          </a:xfrm>
          <a:prstGeom prst="rect">
            <a:avLst/>
          </a:prstGeom>
          <a:noFill/>
        </p:spPr>
        <p:txBody>
          <a:bodyPr wrap="square" lIns="0" tIns="0" rIns="0" bIns="0" anchor="t">
            <a:spAutoFit/>
          </a:bodyPr>
          <a:lstStyle/>
          <a:p>
            <a:pPr algn="l"/>
            <a:r>
              <a:rPr sz="1900" b="1">
                <a:solidFill>
                  <a:srgbClr val="EDF5FF"/>
                </a:solidFill>
                <a:latin typeface="Helvetica Neue"/>
              </a:rPr>
              <a:t>Fixbot</a:t>
            </a:r>
          </a:p>
        </p:txBody>
      </p:sp>
      <p:sp>
        <p:nvSpPr>
          <p:cNvPr id="32" name="TextBox 31"/>
          <p:cNvSpPr txBox="1"/>
          <p:nvPr/>
        </p:nvSpPr>
        <p:spPr>
          <a:xfrm>
            <a:off x="8920276" y="2615184"/>
            <a:ext cx="2357018" cy="169277"/>
          </a:xfrm>
          <a:prstGeom prst="rect">
            <a:avLst/>
          </a:prstGeom>
          <a:noFill/>
        </p:spPr>
        <p:txBody>
          <a:bodyPr wrap="square" lIns="0" tIns="0" rIns="0" bIns="0" anchor="t">
            <a:spAutoFit/>
          </a:bodyPr>
          <a:lstStyle/>
          <a:p>
            <a:pPr algn="l"/>
            <a:r>
              <a:rPr lang="en-US" sz="1100" b="0" dirty="0">
                <a:solidFill>
                  <a:srgbClr val="A8BBCD"/>
                </a:solidFill>
                <a:latin typeface="Helvetica Neue"/>
              </a:rPr>
              <a:t>Proposes</a:t>
            </a:r>
            <a:r>
              <a:rPr sz="1100" b="0" dirty="0">
                <a:solidFill>
                  <a:srgbClr val="A8BBCD"/>
                </a:solidFill>
                <a:latin typeface="Helvetica Neue"/>
              </a:rPr>
              <a:t> fixes for human approval</a:t>
            </a:r>
          </a:p>
        </p:txBody>
      </p:sp>
      <p:sp>
        <p:nvSpPr>
          <p:cNvPr id="76" name="Rectangle 75"/>
          <p:cNvSpPr/>
          <p:nvPr/>
        </p:nvSpPr>
        <p:spPr>
          <a:xfrm>
            <a:off x="777240" y="6263640"/>
            <a:ext cx="10637215" cy="13716"/>
          </a:xfrm>
          <a:prstGeom prst="rect">
            <a:avLst/>
          </a:prstGeom>
          <a:solidFill>
            <a:srgbClr val="3044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777240" y="6252667"/>
            <a:ext cx="1097280" cy="36576"/>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777240" y="6382512"/>
            <a:ext cx="5486400" cy="274320"/>
          </a:xfrm>
          <a:prstGeom prst="rect">
            <a:avLst/>
          </a:prstGeom>
          <a:noFill/>
        </p:spPr>
        <p:txBody>
          <a:bodyPr wrap="square" lIns="0" tIns="0" rIns="0" bIns="0" anchor="t">
            <a:spAutoFit/>
          </a:bodyPr>
          <a:lstStyle/>
          <a:p>
            <a:pPr algn="l"/>
            <a:r>
              <a:rPr sz="1000" b="0" spc="100">
                <a:solidFill>
                  <a:srgbClr val="A8BBCD"/>
                </a:solidFill>
                <a:latin typeface="Helvetica Neue"/>
              </a:rPr>
              <a:t>SAVED CASES  ·  REAL EXECUTION  ·  HUMAN APPROVAL</a:t>
            </a:r>
          </a:p>
        </p:txBody>
      </p:sp>
      <p:cxnSp>
        <p:nvCxnSpPr>
          <p:cNvPr id="79" name="Connector 78"/>
          <p:cNvCxnSpPr/>
          <p:nvPr/>
        </p:nvCxnSpPr>
        <p:spPr>
          <a:xfrm>
            <a:off x="4709160" y="2935224"/>
            <a:ext cx="0" cy="310896"/>
          </a:xfrm>
          <a:prstGeom prst="line">
            <a:avLst/>
          </a:prstGeom>
          <a:ln w="17780">
            <a:solidFill>
              <a:srgbClr val="B9A8FF"/>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a:off x="2258568" y="3246120"/>
            <a:ext cx="2450592" cy="0"/>
          </a:xfrm>
          <a:prstGeom prst="line">
            <a:avLst/>
          </a:prstGeom>
          <a:ln w="17780">
            <a:solidFill>
              <a:srgbClr val="B9A8FF"/>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2258568" y="3246120"/>
            <a:ext cx="0" cy="2738628"/>
          </a:xfrm>
          <a:prstGeom prst="line">
            <a:avLst/>
          </a:prstGeom>
          <a:ln w="17780">
            <a:solidFill>
              <a:srgbClr val="B9A8FF"/>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2395728" y="3291840"/>
            <a:ext cx="2286000" cy="182880"/>
          </a:xfrm>
          <a:prstGeom prst="rect">
            <a:avLst/>
          </a:prstGeom>
          <a:noFill/>
        </p:spPr>
        <p:txBody>
          <a:bodyPr wrap="square" lIns="0" rIns="0" tIns="0" bIns="0" anchor="ctr">
            <a:spAutoFit/>
          </a:bodyPr>
          <a:lstStyle/>
          <a:p>
            <a:pPr algn="l">
              <a:spcAft>
                <a:spcPts val="0"/>
              </a:spcAft>
            </a:pPr>
            <a:r>
              <a:rPr sz="850" b="0">
                <a:solidFill>
                  <a:srgbClr val="B9A8FF"/>
                </a:solidFill>
                <a:latin typeface="Helvetica Neue"/>
              </a:rPr>
              <a:t>launch campaign  ·  AGENTSHIELD_DB.ORCH</a:t>
            </a:r>
          </a:p>
        </p:txBody>
      </p:sp>
      <p:sp>
        <p:nvSpPr>
          <p:cNvPr id="83" name="TextBox 82"/>
          <p:cNvSpPr txBox="1"/>
          <p:nvPr/>
        </p:nvSpPr>
        <p:spPr>
          <a:xfrm>
            <a:off x="777240" y="3621024"/>
            <a:ext cx="1280160" cy="256032"/>
          </a:xfrm>
          <a:prstGeom prst="rect">
            <a:avLst/>
          </a:prstGeom>
          <a:noFill/>
        </p:spPr>
        <p:txBody>
          <a:bodyPr wrap="square" lIns="0" rIns="0" tIns="0" bIns="0" anchor="ctr">
            <a:spAutoFit/>
          </a:bodyPr>
          <a:lstStyle/>
          <a:p>
            <a:pPr algn="l">
              <a:spcAft>
                <a:spcPts val="0"/>
              </a:spcAft>
            </a:pPr>
            <a:r>
              <a:rPr sz="1000" b="1">
                <a:solidFill>
                  <a:srgbClr val="60C7F0"/>
                </a:solidFill>
                <a:latin typeface="Helvetica Neue"/>
              </a:rPr>
              <a:t>REFERENCE INPUT</a:t>
            </a:r>
          </a:p>
        </p:txBody>
      </p:sp>
      <p:sp>
        <p:nvSpPr>
          <p:cNvPr id="84" name="TextBox 83"/>
          <p:cNvSpPr txBox="1"/>
          <p:nvPr/>
        </p:nvSpPr>
        <p:spPr>
          <a:xfrm>
            <a:off x="2514600" y="3621024"/>
            <a:ext cx="2468880" cy="256032"/>
          </a:xfrm>
          <a:prstGeom prst="rect">
            <a:avLst/>
          </a:prstGeom>
          <a:noFill/>
        </p:spPr>
        <p:txBody>
          <a:bodyPr wrap="square" lIns="0" rIns="0" tIns="0" bIns="0" anchor="ctr">
            <a:spAutoFit/>
          </a:bodyPr>
          <a:lstStyle/>
          <a:p>
            <a:pPr algn="l">
              <a:spcAft>
                <a:spcPts val="0"/>
              </a:spcAft>
            </a:pPr>
            <a:r>
              <a:rPr sz="1100" b="1">
                <a:solidFill>
                  <a:srgbClr val="B9A8FF"/>
                </a:solidFill>
                <a:latin typeface="Helvetica Neue"/>
              </a:rPr>
              <a:t>8 SPECIALIST AGENTS</a:t>
            </a:r>
          </a:p>
        </p:txBody>
      </p:sp>
      <p:sp>
        <p:nvSpPr>
          <p:cNvPr id="85" name="TextBox 84"/>
          <p:cNvSpPr txBox="1"/>
          <p:nvPr/>
        </p:nvSpPr>
        <p:spPr>
          <a:xfrm>
            <a:off x="2514600" y="3840480"/>
            <a:ext cx="2468880" cy="146304"/>
          </a:xfrm>
          <a:prstGeom prst="rect">
            <a:avLst/>
          </a:prstGeom>
          <a:noFill/>
        </p:spPr>
        <p:txBody>
          <a:bodyPr wrap="square" lIns="0" rIns="0" tIns="0" bIns="0" anchor="ctr">
            <a:spAutoFit/>
          </a:bodyPr>
          <a:lstStyle/>
          <a:p>
            <a:pPr algn="l">
              <a:spcAft>
                <a:spcPts val="0"/>
              </a:spcAft>
            </a:pPr>
            <a:r>
              <a:rPr sz="850" b="0">
                <a:solidFill>
                  <a:srgbClr val="A8BBCD"/>
                </a:solidFill>
                <a:latin typeface="Helvetica Neue"/>
              </a:rPr>
              <a:t>Generate and save category test cases</a:t>
            </a:r>
          </a:p>
        </p:txBody>
      </p:sp>
      <p:sp>
        <p:nvSpPr>
          <p:cNvPr id="86" name="TextBox 85"/>
          <p:cNvSpPr txBox="1"/>
          <p:nvPr/>
        </p:nvSpPr>
        <p:spPr>
          <a:xfrm>
            <a:off x="5376672" y="3621024"/>
            <a:ext cx="1737360" cy="256032"/>
          </a:xfrm>
          <a:prstGeom prst="rect">
            <a:avLst/>
          </a:prstGeom>
          <a:noFill/>
        </p:spPr>
        <p:txBody>
          <a:bodyPr wrap="square" lIns="0" rIns="0" tIns="0" bIns="0" anchor="ctr">
            <a:spAutoFit/>
          </a:bodyPr>
          <a:lstStyle/>
          <a:p>
            <a:pPr algn="l">
              <a:spcAft>
                <a:spcPts val="0"/>
              </a:spcAft>
            </a:pPr>
            <a:r>
              <a:rPr sz="1000" b="1">
                <a:solidFill>
                  <a:srgbClr val="60C7F0"/>
                </a:solidFill>
                <a:latin typeface="Helvetica Neue"/>
              </a:rPr>
              <a:t>LIVE EXECUTION</a:t>
            </a:r>
          </a:p>
        </p:txBody>
      </p:sp>
      <p:sp>
        <p:nvSpPr>
          <p:cNvPr id="87" name="TextBox 86"/>
          <p:cNvSpPr txBox="1"/>
          <p:nvPr/>
        </p:nvSpPr>
        <p:spPr>
          <a:xfrm>
            <a:off x="7406640" y="3621024"/>
            <a:ext cx="914400" cy="256032"/>
          </a:xfrm>
          <a:prstGeom prst="rect">
            <a:avLst/>
          </a:prstGeom>
          <a:noFill/>
        </p:spPr>
        <p:txBody>
          <a:bodyPr wrap="square" lIns="0" rIns="0" tIns="0" bIns="0" anchor="ctr">
            <a:spAutoFit/>
          </a:bodyPr>
          <a:lstStyle/>
          <a:p>
            <a:pPr algn="l">
              <a:spcAft>
                <a:spcPts val="0"/>
              </a:spcAft>
            </a:pPr>
            <a:r>
              <a:rPr sz="1000" b="1">
                <a:solidFill>
                  <a:srgbClr val="60C7F0"/>
                </a:solidFill>
                <a:latin typeface="Helvetica Neue"/>
              </a:rPr>
              <a:t>RESULTS</a:t>
            </a:r>
          </a:p>
        </p:txBody>
      </p:sp>
      <p:sp>
        <p:nvSpPr>
          <p:cNvPr id="88" name="TextBox 87"/>
          <p:cNvSpPr txBox="1"/>
          <p:nvPr/>
        </p:nvSpPr>
        <p:spPr>
          <a:xfrm>
            <a:off x="9710928" y="3621024"/>
            <a:ext cx="1645920" cy="256032"/>
          </a:xfrm>
          <a:prstGeom prst="rect">
            <a:avLst/>
          </a:prstGeom>
          <a:noFill/>
        </p:spPr>
        <p:txBody>
          <a:bodyPr wrap="square" lIns="0" rIns="0" tIns="0" bIns="0" anchor="ctr">
            <a:spAutoFit/>
          </a:bodyPr>
          <a:lstStyle/>
          <a:p>
            <a:pPr algn="l">
              <a:spcAft>
                <a:spcPts val="0"/>
              </a:spcAft>
            </a:pPr>
            <a:r>
              <a:rPr sz="1000" b="1">
                <a:solidFill>
                  <a:srgbClr val="61D2BD"/>
                </a:solidFill>
                <a:latin typeface="Helvetica Neue"/>
              </a:rPr>
              <a:t>FIXES</a:t>
            </a:r>
          </a:p>
        </p:txBody>
      </p:sp>
      <p:sp>
        <p:nvSpPr>
          <p:cNvPr id="89" name="Rounded Rectangle 88"/>
          <p:cNvSpPr/>
          <p:nvPr/>
        </p:nvSpPr>
        <p:spPr>
          <a:xfrm>
            <a:off x="777240" y="4315968"/>
            <a:ext cx="1280160" cy="1353312"/>
          </a:xfrm>
          <a:prstGeom prst="roundRect">
            <a:avLst>
              <a:gd name="adj" fmla="val 10000"/>
            </a:avLst>
          </a:prstGeom>
          <a:solidFill>
            <a:srgbClr val="122132"/>
          </a:solidFill>
          <a:ln w="12700">
            <a:solidFill>
              <a:srgbClr val="60C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822960" y="4416552"/>
            <a:ext cx="1188720" cy="329184"/>
          </a:xfrm>
          <a:prstGeom prst="rect">
            <a:avLst/>
          </a:prstGeom>
          <a:noFill/>
        </p:spPr>
        <p:txBody>
          <a:bodyPr wrap="square" lIns="0" rIns="0" tIns="0" bIns="0" anchor="ctr">
            <a:spAutoFit/>
          </a:bodyPr>
          <a:lstStyle/>
          <a:p>
            <a:pPr algn="ctr">
              <a:spcAft>
                <a:spcPts val="0"/>
              </a:spcAft>
            </a:pPr>
            <a:r>
              <a:rPr sz="2400" b="1">
                <a:solidFill>
                  <a:srgbClr val="60C7F0"/>
                </a:solidFill>
                <a:latin typeface="Helvetica Neue"/>
              </a:rPr>
              <a:t>120</a:t>
            </a:r>
          </a:p>
        </p:txBody>
      </p:sp>
      <p:sp>
        <p:nvSpPr>
          <p:cNvPr id="91" name="TextBox 90"/>
          <p:cNvSpPr txBox="1"/>
          <p:nvPr/>
        </p:nvSpPr>
        <p:spPr>
          <a:xfrm>
            <a:off x="804672" y="4773168"/>
            <a:ext cx="1225296" cy="539496"/>
          </a:xfrm>
          <a:prstGeom prst="rect">
            <a:avLst/>
          </a:prstGeom>
          <a:noFill/>
        </p:spPr>
        <p:txBody>
          <a:bodyPr wrap="square" lIns="0" rIns="0" tIns="0" bIns="0" anchor="ctr">
            <a:spAutoFit/>
          </a:bodyPr>
          <a:lstStyle/>
          <a:p>
            <a:pPr algn="ctr">
              <a:spcAft>
                <a:spcPts val="0"/>
              </a:spcAft>
            </a:pPr>
            <a:r>
              <a:rPr sz="950" b="0">
                <a:solidFill>
                  <a:srgbClr val="A8BBCD"/>
                </a:solidFill>
                <a:latin typeface="Helvetica Neue"/>
              </a:rPr>
              <a:t>reference templates</a:t>
            </a:r>
          </a:p>
          <a:p>
            <a:pPr algn="ctr">
              <a:spcAft>
                <a:spcPts val="0"/>
              </a:spcAft>
            </a:pPr>
            <a:r>
              <a:rPr sz="950" b="0">
                <a:solidFill>
                  <a:srgbClr val="A8BBCD"/>
                </a:solidFill>
                <a:latin typeface="Helvetica Neue"/>
              </a:rPr>
              <a:t>15 per category</a:t>
            </a:r>
          </a:p>
          <a:p>
            <a:pPr algn="ctr">
              <a:spcAft>
                <a:spcPts val="0"/>
              </a:spcAft>
            </a:pPr>
            <a:r>
              <a:rPr sz="950" b="0">
                <a:solidFill>
                  <a:srgbClr val="A8BBCD"/>
                </a:solidFill>
                <a:latin typeface="Helvetica Neue"/>
              </a:rPr>
              <a:t>+ 1 baseline</a:t>
            </a:r>
          </a:p>
        </p:txBody>
      </p:sp>
      <p:sp>
        <p:nvSpPr>
          <p:cNvPr id="92" name="TextBox 91"/>
          <p:cNvSpPr txBox="1"/>
          <p:nvPr/>
        </p:nvSpPr>
        <p:spPr>
          <a:xfrm>
            <a:off x="804672" y="5385816"/>
            <a:ext cx="1225296" cy="164592"/>
          </a:xfrm>
          <a:prstGeom prst="rect">
            <a:avLst/>
          </a:prstGeom>
          <a:noFill/>
        </p:spPr>
        <p:txBody>
          <a:bodyPr wrap="square" lIns="0" rIns="0" tIns="0" bIns="0" anchor="ctr">
            <a:spAutoFit/>
          </a:bodyPr>
          <a:lstStyle/>
          <a:p>
            <a:pPr algn="ctr">
              <a:spcAft>
                <a:spcPts val="0"/>
              </a:spcAft>
            </a:pPr>
            <a:r>
              <a:rPr sz="780" b="0">
                <a:solidFill>
                  <a:srgbClr val="A8BBCD"/>
                </a:solidFill>
                <a:latin typeface="Helvetica Neue"/>
              </a:rPr>
              <a:t>ATTACK_TEMPLATES</a:t>
            </a:r>
          </a:p>
        </p:txBody>
      </p:sp>
      <p:cxnSp>
        <p:nvCxnSpPr>
          <p:cNvPr id="93" name="Connector 92"/>
          <p:cNvCxnSpPr/>
          <p:nvPr/>
        </p:nvCxnSpPr>
        <p:spPr>
          <a:xfrm>
            <a:off x="2057400" y="4901184"/>
            <a:ext cx="201168" cy="0"/>
          </a:xfrm>
          <a:prstGeom prst="line">
            <a:avLst/>
          </a:prstGeom>
          <a:ln w="17780">
            <a:solidFill>
              <a:srgbClr val="60C7F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5212080" y="4128515"/>
            <a:ext cx="0" cy="1856233"/>
          </a:xfrm>
          <a:prstGeom prst="line">
            <a:avLst/>
          </a:prstGeom>
          <a:ln w="17780">
            <a:solidFill>
              <a:srgbClr val="B9A8FF"/>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2258568" y="4128516"/>
            <a:ext cx="256032" cy="0"/>
          </a:xfrm>
          <a:prstGeom prst="line">
            <a:avLst/>
          </a:prstGeom>
          <a:ln w="17780">
            <a:solidFill>
              <a:srgbClr val="B9A8FF"/>
            </a:solidFill>
            <a:tailEnd type="triangle"/>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4983480" y="4128516"/>
            <a:ext cx="228600" cy="0"/>
          </a:xfrm>
          <a:prstGeom prst="line">
            <a:avLst/>
          </a:prstGeom>
          <a:ln w="17780">
            <a:solidFill>
              <a:srgbClr val="B9A8FF"/>
            </a:solidFill>
          </a:ln>
        </p:spPr>
        <p:style>
          <a:lnRef idx="2">
            <a:schemeClr val="accent1"/>
          </a:lnRef>
          <a:fillRef idx="0">
            <a:schemeClr val="accent1"/>
          </a:fillRef>
          <a:effectRef idx="1">
            <a:schemeClr val="accent1"/>
          </a:effectRef>
          <a:fontRef idx="minor">
            <a:schemeClr val="tx1"/>
          </a:fontRef>
        </p:style>
      </p:cxnSp>
      <p:sp>
        <p:nvSpPr>
          <p:cNvPr id="97" name="Rounded Rectangle 96"/>
          <p:cNvSpPr/>
          <p:nvPr/>
        </p:nvSpPr>
        <p:spPr>
          <a:xfrm>
            <a:off x="2514600" y="4023360"/>
            <a:ext cx="2468880" cy="210312"/>
          </a:xfrm>
          <a:prstGeom prst="roundRect">
            <a:avLst>
              <a:gd name="adj" fmla="val 10000"/>
            </a:avLst>
          </a:prstGeom>
          <a:solidFill>
            <a:srgbClr val="122132"/>
          </a:solidFill>
          <a:ln w="12700">
            <a:solidFill>
              <a:srgbClr val="B9A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2560320" y="4023360"/>
            <a:ext cx="2377440" cy="210312"/>
          </a:xfrm>
          <a:prstGeom prst="rect">
            <a:avLst/>
          </a:prstGeom>
          <a:noFill/>
        </p:spPr>
        <p:txBody>
          <a:bodyPr wrap="square" lIns="0" rIns="0" tIns="0" bIns="0" anchor="ctr">
            <a:spAutoFit/>
          </a:bodyPr>
          <a:lstStyle/>
          <a:p>
            <a:pPr algn="ctr">
              <a:spcAft>
                <a:spcPts val="0"/>
              </a:spcAft>
            </a:pPr>
            <a:r>
              <a:rPr sz="930" b="0">
                <a:solidFill>
                  <a:srgbClr val="EDF5FF"/>
                </a:solidFill>
                <a:latin typeface="Helvetica Neue"/>
              </a:rPr>
              <a:t>CATEGORY_PROMPT_INJECTION</a:t>
            </a:r>
          </a:p>
        </p:txBody>
      </p:sp>
      <p:cxnSp>
        <p:nvCxnSpPr>
          <p:cNvPr id="99" name="Connector 98"/>
          <p:cNvCxnSpPr/>
          <p:nvPr/>
        </p:nvCxnSpPr>
        <p:spPr>
          <a:xfrm>
            <a:off x="2258568" y="4393692"/>
            <a:ext cx="256032" cy="0"/>
          </a:xfrm>
          <a:prstGeom prst="line">
            <a:avLst/>
          </a:prstGeom>
          <a:ln w="17780">
            <a:solidFill>
              <a:srgbClr val="B9A8FF"/>
            </a:solidFill>
            <a:tailEnd type="triangle"/>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4983480" y="4393692"/>
            <a:ext cx="228600" cy="0"/>
          </a:xfrm>
          <a:prstGeom prst="line">
            <a:avLst/>
          </a:prstGeom>
          <a:ln w="17780">
            <a:solidFill>
              <a:srgbClr val="B9A8FF"/>
            </a:solidFill>
          </a:ln>
        </p:spPr>
        <p:style>
          <a:lnRef idx="2">
            <a:schemeClr val="accent1"/>
          </a:lnRef>
          <a:fillRef idx="0">
            <a:schemeClr val="accent1"/>
          </a:fillRef>
          <a:effectRef idx="1">
            <a:schemeClr val="accent1"/>
          </a:effectRef>
          <a:fontRef idx="minor">
            <a:schemeClr val="tx1"/>
          </a:fontRef>
        </p:style>
      </p:cxnSp>
      <p:sp>
        <p:nvSpPr>
          <p:cNvPr id="101" name="Rounded Rectangle 100"/>
          <p:cNvSpPr/>
          <p:nvPr/>
        </p:nvSpPr>
        <p:spPr>
          <a:xfrm>
            <a:off x="2514600" y="4288536"/>
            <a:ext cx="2468880" cy="210312"/>
          </a:xfrm>
          <a:prstGeom prst="roundRect">
            <a:avLst>
              <a:gd name="adj" fmla="val 10000"/>
            </a:avLst>
          </a:prstGeom>
          <a:solidFill>
            <a:srgbClr val="122132"/>
          </a:solidFill>
          <a:ln w="12700">
            <a:solidFill>
              <a:srgbClr val="B9A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2560320" y="4288536"/>
            <a:ext cx="2377440" cy="210312"/>
          </a:xfrm>
          <a:prstGeom prst="rect">
            <a:avLst/>
          </a:prstGeom>
          <a:noFill/>
        </p:spPr>
        <p:txBody>
          <a:bodyPr wrap="square" lIns="0" rIns="0" tIns="0" bIns="0" anchor="ctr">
            <a:spAutoFit/>
          </a:bodyPr>
          <a:lstStyle/>
          <a:p>
            <a:pPr algn="ctr">
              <a:spcAft>
                <a:spcPts val="0"/>
              </a:spcAft>
            </a:pPr>
            <a:r>
              <a:rPr sz="930" b="0">
                <a:solidFill>
                  <a:srgbClr val="EDF5FF"/>
                </a:solidFill>
                <a:latin typeface="Helvetica Neue"/>
              </a:rPr>
              <a:t>CATEGORY_PII_EXTRACTION</a:t>
            </a:r>
          </a:p>
        </p:txBody>
      </p:sp>
      <p:cxnSp>
        <p:nvCxnSpPr>
          <p:cNvPr id="103" name="Connector 102"/>
          <p:cNvCxnSpPr/>
          <p:nvPr/>
        </p:nvCxnSpPr>
        <p:spPr>
          <a:xfrm>
            <a:off x="2258568" y="4658868"/>
            <a:ext cx="256032" cy="0"/>
          </a:xfrm>
          <a:prstGeom prst="line">
            <a:avLst/>
          </a:prstGeom>
          <a:ln w="17780">
            <a:solidFill>
              <a:srgbClr val="B9A8FF"/>
            </a:solidFill>
            <a:tailEnd type="triangle"/>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4983480" y="4658868"/>
            <a:ext cx="228600" cy="0"/>
          </a:xfrm>
          <a:prstGeom prst="line">
            <a:avLst/>
          </a:prstGeom>
          <a:ln w="17780">
            <a:solidFill>
              <a:srgbClr val="B9A8FF"/>
            </a:solidFill>
          </a:ln>
        </p:spPr>
        <p:style>
          <a:lnRef idx="2">
            <a:schemeClr val="accent1"/>
          </a:lnRef>
          <a:fillRef idx="0">
            <a:schemeClr val="accent1"/>
          </a:fillRef>
          <a:effectRef idx="1">
            <a:schemeClr val="accent1"/>
          </a:effectRef>
          <a:fontRef idx="minor">
            <a:schemeClr val="tx1"/>
          </a:fontRef>
        </p:style>
      </p:cxnSp>
      <p:sp>
        <p:nvSpPr>
          <p:cNvPr id="105" name="Rounded Rectangle 104"/>
          <p:cNvSpPr/>
          <p:nvPr/>
        </p:nvSpPr>
        <p:spPr>
          <a:xfrm>
            <a:off x="2514600" y="4553712"/>
            <a:ext cx="2468880" cy="210312"/>
          </a:xfrm>
          <a:prstGeom prst="roundRect">
            <a:avLst>
              <a:gd name="adj" fmla="val 10000"/>
            </a:avLst>
          </a:prstGeom>
          <a:solidFill>
            <a:srgbClr val="122132"/>
          </a:solidFill>
          <a:ln w="12700">
            <a:solidFill>
              <a:srgbClr val="B9A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2560320" y="4553712"/>
            <a:ext cx="2377440" cy="210312"/>
          </a:xfrm>
          <a:prstGeom prst="rect">
            <a:avLst/>
          </a:prstGeom>
          <a:noFill/>
        </p:spPr>
        <p:txBody>
          <a:bodyPr wrap="square" lIns="0" rIns="0" tIns="0" bIns="0" anchor="ctr">
            <a:spAutoFit/>
          </a:bodyPr>
          <a:lstStyle/>
          <a:p>
            <a:pPr algn="ctr">
              <a:spcAft>
                <a:spcPts val="0"/>
              </a:spcAft>
            </a:pPr>
            <a:r>
              <a:rPr sz="930" b="0">
                <a:solidFill>
                  <a:srgbClr val="EDF5FF"/>
                </a:solidFill>
                <a:latin typeface="Helvetica Neue"/>
              </a:rPr>
              <a:t>CATEGORY_SCOPE_VIOLATION</a:t>
            </a:r>
          </a:p>
        </p:txBody>
      </p:sp>
      <p:cxnSp>
        <p:nvCxnSpPr>
          <p:cNvPr id="107" name="Connector 106"/>
          <p:cNvCxnSpPr/>
          <p:nvPr/>
        </p:nvCxnSpPr>
        <p:spPr>
          <a:xfrm>
            <a:off x="2258568" y="4924044"/>
            <a:ext cx="256032" cy="0"/>
          </a:xfrm>
          <a:prstGeom prst="line">
            <a:avLst/>
          </a:prstGeom>
          <a:ln w="17780">
            <a:solidFill>
              <a:srgbClr val="B9A8FF"/>
            </a:solidFill>
            <a:tailEnd type="triangle"/>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4983480" y="4924044"/>
            <a:ext cx="228600" cy="0"/>
          </a:xfrm>
          <a:prstGeom prst="line">
            <a:avLst/>
          </a:prstGeom>
          <a:ln w="17780">
            <a:solidFill>
              <a:srgbClr val="B9A8FF"/>
            </a:solidFill>
          </a:ln>
        </p:spPr>
        <p:style>
          <a:lnRef idx="2">
            <a:schemeClr val="accent1"/>
          </a:lnRef>
          <a:fillRef idx="0">
            <a:schemeClr val="accent1"/>
          </a:fillRef>
          <a:effectRef idx="1">
            <a:schemeClr val="accent1"/>
          </a:effectRef>
          <a:fontRef idx="minor">
            <a:schemeClr val="tx1"/>
          </a:fontRef>
        </p:style>
      </p:cxnSp>
      <p:sp>
        <p:nvSpPr>
          <p:cNvPr id="109" name="Rounded Rectangle 108"/>
          <p:cNvSpPr/>
          <p:nvPr/>
        </p:nvSpPr>
        <p:spPr>
          <a:xfrm>
            <a:off x="2514600" y="4818888"/>
            <a:ext cx="2468880" cy="210312"/>
          </a:xfrm>
          <a:prstGeom prst="roundRect">
            <a:avLst>
              <a:gd name="adj" fmla="val 10000"/>
            </a:avLst>
          </a:prstGeom>
          <a:solidFill>
            <a:srgbClr val="122132"/>
          </a:solidFill>
          <a:ln w="12700">
            <a:solidFill>
              <a:srgbClr val="B9A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2560320" y="4818888"/>
            <a:ext cx="2377440" cy="210312"/>
          </a:xfrm>
          <a:prstGeom prst="rect">
            <a:avLst/>
          </a:prstGeom>
          <a:noFill/>
        </p:spPr>
        <p:txBody>
          <a:bodyPr wrap="square" lIns="0" rIns="0" tIns="0" bIns="0" anchor="ctr">
            <a:spAutoFit/>
          </a:bodyPr>
          <a:lstStyle/>
          <a:p>
            <a:pPr algn="ctr">
              <a:spcAft>
                <a:spcPts val="0"/>
              </a:spcAft>
            </a:pPr>
            <a:r>
              <a:rPr sz="930" b="0">
                <a:solidFill>
                  <a:srgbClr val="EDF5FF"/>
                </a:solidFill>
                <a:latin typeface="Helvetica Neue"/>
              </a:rPr>
              <a:t>CATEGORY_SOCIAL_ENGINEERING</a:t>
            </a:r>
          </a:p>
        </p:txBody>
      </p:sp>
      <p:cxnSp>
        <p:nvCxnSpPr>
          <p:cNvPr id="111" name="Connector 110"/>
          <p:cNvCxnSpPr/>
          <p:nvPr/>
        </p:nvCxnSpPr>
        <p:spPr>
          <a:xfrm>
            <a:off x="2258568" y="5189220"/>
            <a:ext cx="256032" cy="0"/>
          </a:xfrm>
          <a:prstGeom prst="line">
            <a:avLst/>
          </a:prstGeom>
          <a:ln w="17780">
            <a:solidFill>
              <a:srgbClr val="B9A8FF"/>
            </a:solidFill>
            <a:tailEnd type="triangle"/>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4983480" y="5189220"/>
            <a:ext cx="228600" cy="0"/>
          </a:xfrm>
          <a:prstGeom prst="line">
            <a:avLst/>
          </a:prstGeom>
          <a:ln w="17780">
            <a:solidFill>
              <a:srgbClr val="B9A8FF"/>
            </a:solidFill>
          </a:ln>
        </p:spPr>
        <p:style>
          <a:lnRef idx="2">
            <a:schemeClr val="accent1"/>
          </a:lnRef>
          <a:fillRef idx="0">
            <a:schemeClr val="accent1"/>
          </a:fillRef>
          <a:effectRef idx="1">
            <a:schemeClr val="accent1"/>
          </a:effectRef>
          <a:fontRef idx="minor">
            <a:schemeClr val="tx1"/>
          </a:fontRef>
        </p:style>
      </p:cxnSp>
      <p:sp>
        <p:nvSpPr>
          <p:cNvPr id="113" name="Rounded Rectangle 112"/>
          <p:cNvSpPr/>
          <p:nvPr/>
        </p:nvSpPr>
        <p:spPr>
          <a:xfrm>
            <a:off x="2514600" y="5084064"/>
            <a:ext cx="2468880" cy="210312"/>
          </a:xfrm>
          <a:prstGeom prst="roundRect">
            <a:avLst>
              <a:gd name="adj" fmla="val 10000"/>
            </a:avLst>
          </a:prstGeom>
          <a:solidFill>
            <a:srgbClr val="122132"/>
          </a:solidFill>
          <a:ln w="12700">
            <a:solidFill>
              <a:srgbClr val="B9A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2560320" y="5084064"/>
            <a:ext cx="2377440" cy="210312"/>
          </a:xfrm>
          <a:prstGeom prst="rect">
            <a:avLst/>
          </a:prstGeom>
          <a:noFill/>
        </p:spPr>
        <p:txBody>
          <a:bodyPr wrap="square" lIns="0" rIns="0" tIns="0" bIns="0" anchor="ctr">
            <a:spAutoFit/>
          </a:bodyPr>
          <a:lstStyle/>
          <a:p>
            <a:pPr algn="ctr">
              <a:spcAft>
                <a:spcPts val="0"/>
              </a:spcAft>
            </a:pPr>
            <a:r>
              <a:rPr sz="930" b="0">
                <a:solidFill>
                  <a:srgbClr val="EDF5FF"/>
                </a:solidFill>
                <a:latin typeface="Helvetica Neue"/>
              </a:rPr>
              <a:t>CATEGORY_MULTI_TURN</a:t>
            </a:r>
          </a:p>
        </p:txBody>
      </p:sp>
      <p:cxnSp>
        <p:nvCxnSpPr>
          <p:cNvPr id="115" name="Connector 114"/>
          <p:cNvCxnSpPr/>
          <p:nvPr/>
        </p:nvCxnSpPr>
        <p:spPr>
          <a:xfrm>
            <a:off x="2258568" y="5454396"/>
            <a:ext cx="256032" cy="0"/>
          </a:xfrm>
          <a:prstGeom prst="line">
            <a:avLst/>
          </a:prstGeom>
          <a:ln w="17780">
            <a:solidFill>
              <a:srgbClr val="B9A8FF"/>
            </a:solidFill>
            <a:tailEnd type="triangle"/>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4983480" y="5454396"/>
            <a:ext cx="228600" cy="0"/>
          </a:xfrm>
          <a:prstGeom prst="line">
            <a:avLst/>
          </a:prstGeom>
          <a:ln w="17780">
            <a:solidFill>
              <a:srgbClr val="B9A8FF"/>
            </a:solidFill>
          </a:ln>
        </p:spPr>
        <p:style>
          <a:lnRef idx="2">
            <a:schemeClr val="accent1"/>
          </a:lnRef>
          <a:fillRef idx="0">
            <a:schemeClr val="accent1"/>
          </a:fillRef>
          <a:effectRef idx="1">
            <a:schemeClr val="accent1"/>
          </a:effectRef>
          <a:fontRef idx="minor">
            <a:schemeClr val="tx1"/>
          </a:fontRef>
        </p:style>
      </p:cxnSp>
      <p:sp>
        <p:nvSpPr>
          <p:cNvPr id="117" name="Rounded Rectangle 116"/>
          <p:cNvSpPr/>
          <p:nvPr/>
        </p:nvSpPr>
        <p:spPr>
          <a:xfrm>
            <a:off x="2514600" y="5349240"/>
            <a:ext cx="2468880" cy="210312"/>
          </a:xfrm>
          <a:prstGeom prst="roundRect">
            <a:avLst>
              <a:gd name="adj" fmla="val 10000"/>
            </a:avLst>
          </a:prstGeom>
          <a:solidFill>
            <a:srgbClr val="122132"/>
          </a:solidFill>
          <a:ln w="12700">
            <a:solidFill>
              <a:srgbClr val="B9A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2560320" y="5349240"/>
            <a:ext cx="2377440" cy="210312"/>
          </a:xfrm>
          <a:prstGeom prst="rect">
            <a:avLst/>
          </a:prstGeom>
          <a:noFill/>
        </p:spPr>
        <p:txBody>
          <a:bodyPr wrap="square" lIns="0" rIns="0" tIns="0" bIns="0" anchor="ctr">
            <a:spAutoFit/>
          </a:bodyPr>
          <a:lstStyle/>
          <a:p>
            <a:pPr algn="ctr">
              <a:spcAft>
                <a:spcPts val="0"/>
              </a:spcAft>
            </a:pPr>
            <a:r>
              <a:rPr sz="930" b="0">
                <a:solidFill>
                  <a:srgbClr val="EDF5FF"/>
                </a:solidFill>
                <a:latin typeface="Helvetica Neue"/>
              </a:rPr>
              <a:t>CATEGORY_DATA_EXFILTRATION</a:t>
            </a:r>
          </a:p>
        </p:txBody>
      </p:sp>
      <p:cxnSp>
        <p:nvCxnSpPr>
          <p:cNvPr id="119" name="Connector 118"/>
          <p:cNvCxnSpPr/>
          <p:nvPr/>
        </p:nvCxnSpPr>
        <p:spPr>
          <a:xfrm>
            <a:off x="2258568" y="5719572"/>
            <a:ext cx="256032" cy="0"/>
          </a:xfrm>
          <a:prstGeom prst="line">
            <a:avLst/>
          </a:prstGeom>
          <a:ln w="17780">
            <a:solidFill>
              <a:srgbClr val="B9A8FF"/>
            </a:solidFill>
            <a:tailEnd type="triangle"/>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4983480" y="5719572"/>
            <a:ext cx="228600" cy="0"/>
          </a:xfrm>
          <a:prstGeom prst="line">
            <a:avLst/>
          </a:prstGeom>
          <a:ln w="17780">
            <a:solidFill>
              <a:srgbClr val="B9A8FF"/>
            </a:solidFill>
          </a:ln>
        </p:spPr>
        <p:style>
          <a:lnRef idx="2">
            <a:schemeClr val="accent1"/>
          </a:lnRef>
          <a:fillRef idx="0">
            <a:schemeClr val="accent1"/>
          </a:fillRef>
          <a:effectRef idx="1">
            <a:schemeClr val="accent1"/>
          </a:effectRef>
          <a:fontRef idx="minor">
            <a:schemeClr val="tx1"/>
          </a:fontRef>
        </p:style>
      </p:cxnSp>
      <p:sp>
        <p:nvSpPr>
          <p:cNvPr id="121" name="Rounded Rectangle 120"/>
          <p:cNvSpPr/>
          <p:nvPr/>
        </p:nvSpPr>
        <p:spPr>
          <a:xfrm>
            <a:off x="2514600" y="5614416"/>
            <a:ext cx="2468880" cy="210312"/>
          </a:xfrm>
          <a:prstGeom prst="roundRect">
            <a:avLst>
              <a:gd name="adj" fmla="val 10000"/>
            </a:avLst>
          </a:prstGeom>
          <a:solidFill>
            <a:srgbClr val="122132"/>
          </a:solidFill>
          <a:ln w="12700">
            <a:solidFill>
              <a:srgbClr val="B9A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2560320" y="5614416"/>
            <a:ext cx="2377440" cy="210312"/>
          </a:xfrm>
          <a:prstGeom prst="rect">
            <a:avLst/>
          </a:prstGeom>
          <a:noFill/>
        </p:spPr>
        <p:txBody>
          <a:bodyPr wrap="square" lIns="0" rIns="0" tIns="0" bIns="0" anchor="ctr">
            <a:spAutoFit/>
          </a:bodyPr>
          <a:lstStyle/>
          <a:p>
            <a:pPr algn="ctr">
              <a:spcAft>
                <a:spcPts val="0"/>
              </a:spcAft>
            </a:pPr>
            <a:r>
              <a:rPr sz="930" b="0">
                <a:solidFill>
                  <a:srgbClr val="EDF5FF"/>
                </a:solidFill>
                <a:latin typeface="Helvetica Neue"/>
              </a:rPr>
              <a:t>CATEGORY_ROLE_ESCALATION</a:t>
            </a:r>
          </a:p>
        </p:txBody>
      </p:sp>
      <p:cxnSp>
        <p:nvCxnSpPr>
          <p:cNvPr id="123" name="Connector 122"/>
          <p:cNvCxnSpPr/>
          <p:nvPr/>
        </p:nvCxnSpPr>
        <p:spPr>
          <a:xfrm>
            <a:off x="2258568" y="5984748"/>
            <a:ext cx="256032" cy="0"/>
          </a:xfrm>
          <a:prstGeom prst="line">
            <a:avLst/>
          </a:prstGeom>
          <a:ln w="17780">
            <a:solidFill>
              <a:srgbClr val="B9A8FF"/>
            </a:solidFill>
            <a:tailEnd type="triangle"/>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4983480" y="5984748"/>
            <a:ext cx="228600" cy="0"/>
          </a:xfrm>
          <a:prstGeom prst="line">
            <a:avLst/>
          </a:prstGeom>
          <a:ln w="17780">
            <a:solidFill>
              <a:srgbClr val="B9A8FF"/>
            </a:solidFill>
          </a:ln>
        </p:spPr>
        <p:style>
          <a:lnRef idx="2">
            <a:schemeClr val="accent1"/>
          </a:lnRef>
          <a:fillRef idx="0">
            <a:schemeClr val="accent1"/>
          </a:fillRef>
          <a:effectRef idx="1">
            <a:schemeClr val="accent1"/>
          </a:effectRef>
          <a:fontRef idx="minor">
            <a:schemeClr val="tx1"/>
          </a:fontRef>
        </p:style>
      </p:cxnSp>
      <p:sp>
        <p:nvSpPr>
          <p:cNvPr id="125" name="Rounded Rectangle 124"/>
          <p:cNvSpPr/>
          <p:nvPr/>
        </p:nvSpPr>
        <p:spPr>
          <a:xfrm>
            <a:off x="2514600" y="5879592"/>
            <a:ext cx="2468880" cy="210312"/>
          </a:xfrm>
          <a:prstGeom prst="roundRect">
            <a:avLst>
              <a:gd name="adj" fmla="val 10000"/>
            </a:avLst>
          </a:prstGeom>
          <a:solidFill>
            <a:srgbClr val="122132"/>
          </a:solidFill>
          <a:ln w="12700">
            <a:solidFill>
              <a:srgbClr val="B9A8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2560320" y="5879592"/>
            <a:ext cx="2377440" cy="210312"/>
          </a:xfrm>
          <a:prstGeom prst="rect">
            <a:avLst/>
          </a:prstGeom>
          <a:noFill/>
        </p:spPr>
        <p:txBody>
          <a:bodyPr wrap="square" lIns="0" rIns="0" tIns="0" bIns="0" anchor="ctr">
            <a:spAutoFit/>
          </a:bodyPr>
          <a:lstStyle/>
          <a:p>
            <a:pPr algn="ctr">
              <a:spcAft>
                <a:spcPts val="0"/>
              </a:spcAft>
            </a:pPr>
            <a:r>
              <a:rPr sz="930" b="0">
                <a:solidFill>
                  <a:srgbClr val="EDF5FF"/>
                </a:solidFill>
                <a:latin typeface="Helvetica Neue"/>
              </a:rPr>
              <a:t>CATEGORY_INDIRECT_INJECTION</a:t>
            </a:r>
          </a:p>
        </p:txBody>
      </p:sp>
      <p:cxnSp>
        <p:nvCxnSpPr>
          <p:cNvPr id="127" name="Connector 126"/>
          <p:cNvCxnSpPr/>
          <p:nvPr/>
        </p:nvCxnSpPr>
        <p:spPr>
          <a:xfrm>
            <a:off x="5212080" y="4901184"/>
            <a:ext cx="228600" cy="0"/>
          </a:xfrm>
          <a:prstGeom prst="line">
            <a:avLst/>
          </a:prstGeom>
          <a:ln w="17780">
            <a:solidFill>
              <a:srgbClr val="B9A8FF"/>
            </a:solidFill>
            <a:tailEnd type="triangle"/>
          </a:ln>
        </p:spPr>
        <p:style>
          <a:lnRef idx="2">
            <a:schemeClr val="accent1"/>
          </a:lnRef>
          <a:fillRef idx="0">
            <a:schemeClr val="accent1"/>
          </a:fillRef>
          <a:effectRef idx="1">
            <a:schemeClr val="accent1"/>
          </a:effectRef>
          <a:fontRef idx="minor">
            <a:schemeClr val="tx1"/>
          </a:fontRef>
        </p:style>
      </p:cxnSp>
      <p:sp>
        <p:nvSpPr>
          <p:cNvPr id="128" name="Rounded Rectangle 127"/>
          <p:cNvSpPr/>
          <p:nvPr/>
        </p:nvSpPr>
        <p:spPr>
          <a:xfrm>
            <a:off x="5440680" y="4389120"/>
            <a:ext cx="1600200" cy="1216152"/>
          </a:xfrm>
          <a:prstGeom prst="roundRect">
            <a:avLst>
              <a:gd name="adj" fmla="val 10000"/>
            </a:avLst>
          </a:prstGeom>
          <a:solidFill>
            <a:srgbClr val="122132"/>
          </a:solidFill>
          <a:ln w="12700">
            <a:solidFill>
              <a:srgbClr val="60C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5486400" y="4489704"/>
            <a:ext cx="1508760" cy="320040"/>
          </a:xfrm>
          <a:prstGeom prst="rect">
            <a:avLst/>
          </a:prstGeom>
          <a:noFill/>
        </p:spPr>
        <p:txBody>
          <a:bodyPr wrap="square" lIns="0" rIns="0" tIns="0" bIns="0" anchor="ctr">
            <a:spAutoFit/>
          </a:bodyPr>
          <a:lstStyle/>
          <a:p>
            <a:pPr algn="ctr">
              <a:spcAft>
                <a:spcPts val="0"/>
              </a:spcAft>
            </a:pPr>
            <a:r>
              <a:rPr sz="1500" b="1">
                <a:solidFill>
                  <a:srgbClr val="60C7F0"/>
                </a:solidFill>
                <a:latin typeface="Helvetica Neue"/>
              </a:rPr>
              <a:t>Target agent</a:t>
            </a:r>
          </a:p>
        </p:txBody>
      </p:sp>
      <p:sp>
        <p:nvSpPr>
          <p:cNvPr id="130" name="TextBox 129"/>
          <p:cNvSpPr txBox="1"/>
          <p:nvPr/>
        </p:nvSpPr>
        <p:spPr>
          <a:xfrm>
            <a:off x="5486400" y="4864608"/>
            <a:ext cx="1508760" cy="548640"/>
          </a:xfrm>
          <a:prstGeom prst="rect">
            <a:avLst/>
          </a:prstGeom>
          <a:noFill/>
        </p:spPr>
        <p:txBody>
          <a:bodyPr wrap="square" lIns="0" rIns="0" tIns="0" bIns="0" anchor="ctr">
            <a:spAutoFit/>
          </a:bodyPr>
          <a:lstStyle/>
          <a:p>
            <a:pPr algn="ctr">
              <a:spcAft>
                <a:spcPts val="0"/>
              </a:spcAft>
            </a:pPr>
            <a:r>
              <a:rPr sz="950" b="0">
                <a:solidFill>
                  <a:srgbClr val="A8BBCD"/>
                </a:solidFill>
                <a:latin typeface="Helvetica Neue"/>
              </a:rPr>
              <a:t>Saved test cases</a:t>
            </a:r>
          </a:p>
          <a:p>
            <a:pPr algn="ctr">
              <a:spcAft>
                <a:spcPts val="0"/>
              </a:spcAft>
            </a:pPr>
            <a:r>
              <a:rPr sz="950" b="0">
                <a:solidFill>
                  <a:srgbClr val="A8BBCD"/>
                </a:solidFill>
                <a:latin typeface="Helvetica Neue"/>
              </a:rPr>
              <a:t>Persona-owned runner</a:t>
            </a:r>
          </a:p>
          <a:p>
            <a:pPr algn="ctr">
              <a:spcAft>
                <a:spcPts val="0"/>
              </a:spcAft>
            </a:pPr>
            <a:r>
              <a:rPr sz="950" b="0">
                <a:solidFill>
                  <a:srgbClr val="A8BBCD"/>
                </a:solidFill>
                <a:latin typeface="Helvetica Neue"/>
              </a:rPr>
              <a:t>Responses, tools &amp; SQL</a:t>
            </a:r>
          </a:p>
        </p:txBody>
      </p:sp>
      <p:sp>
        <p:nvSpPr>
          <p:cNvPr id="131" name="TextBox 130"/>
          <p:cNvSpPr txBox="1"/>
          <p:nvPr/>
        </p:nvSpPr>
        <p:spPr>
          <a:xfrm>
            <a:off x="5349240" y="3986784"/>
            <a:ext cx="1783080" cy="274320"/>
          </a:xfrm>
          <a:prstGeom prst="rect">
            <a:avLst/>
          </a:prstGeom>
          <a:noFill/>
        </p:spPr>
        <p:txBody>
          <a:bodyPr wrap="square" lIns="0" rIns="0" tIns="0" bIns="0" anchor="ctr">
            <a:spAutoFit/>
          </a:bodyPr>
          <a:lstStyle/>
          <a:p>
            <a:pPr algn="ctr">
              <a:spcAft>
                <a:spcPts val="0"/>
              </a:spcAft>
            </a:pPr>
            <a:r>
              <a:rPr sz="1000" b="1">
                <a:solidFill>
                  <a:srgbClr val="B9A8FF"/>
                </a:solidFill>
                <a:latin typeface="Helvetica Neue"/>
              </a:rPr>
              <a:t>4 shared task workers</a:t>
            </a:r>
          </a:p>
        </p:txBody>
      </p:sp>
      <p:sp>
        <p:nvSpPr>
          <p:cNvPr id="132" name="TextBox 131"/>
          <p:cNvSpPr txBox="1"/>
          <p:nvPr/>
        </p:nvSpPr>
        <p:spPr>
          <a:xfrm>
            <a:off x="5349240" y="5696712"/>
            <a:ext cx="1783080" cy="365760"/>
          </a:xfrm>
          <a:prstGeom prst="rect">
            <a:avLst/>
          </a:prstGeom>
          <a:noFill/>
        </p:spPr>
        <p:txBody>
          <a:bodyPr wrap="square" lIns="0" rIns="0" tIns="0" bIns="0" anchor="ctr">
            <a:spAutoFit/>
          </a:bodyPr>
          <a:lstStyle/>
          <a:p>
            <a:pPr algn="ctr">
              <a:spcAft>
                <a:spcPts val="0"/>
              </a:spcAft>
            </a:pPr>
            <a:r>
              <a:rPr sz="900" b="0">
                <a:solidFill>
                  <a:srgbClr val="A8BBCD"/>
                </a:solidFill>
                <a:latin typeface="Helvetica Neue"/>
              </a:rPr>
              <a:t>Sequential cases</a:t>
            </a:r>
          </a:p>
          <a:p>
            <a:pPr algn="ctr">
              <a:spcAft>
                <a:spcPts val="0"/>
              </a:spcAft>
            </a:pPr>
            <a:r>
              <a:rPr sz="900" b="0">
                <a:solidFill>
                  <a:srgbClr val="A8BBCD"/>
                </a:solidFill>
                <a:latin typeface="Helvetica Neue"/>
              </a:rPr>
              <a:t>within each category</a:t>
            </a:r>
          </a:p>
        </p:txBody>
      </p:sp>
      <p:cxnSp>
        <p:nvCxnSpPr>
          <p:cNvPr id="133" name="Connector 132"/>
          <p:cNvCxnSpPr/>
          <p:nvPr/>
        </p:nvCxnSpPr>
        <p:spPr>
          <a:xfrm>
            <a:off x="7040880" y="4901184"/>
            <a:ext cx="365760" cy="0"/>
          </a:xfrm>
          <a:prstGeom prst="line">
            <a:avLst/>
          </a:prstGeom>
          <a:ln w="17780">
            <a:solidFill>
              <a:srgbClr val="60C7F0"/>
            </a:solidFill>
            <a:tailEnd type="triangle"/>
          </a:ln>
        </p:spPr>
        <p:style>
          <a:lnRef idx="2">
            <a:schemeClr val="accent1"/>
          </a:lnRef>
          <a:fillRef idx="0">
            <a:schemeClr val="accent1"/>
          </a:fillRef>
          <a:effectRef idx="1">
            <a:schemeClr val="accent1"/>
          </a:effectRef>
          <a:fontRef idx="minor">
            <a:schemeClr val="tx1"/>
          </a:fontRef>
        </p:style>
      </p:cxnSp>
      <p:sp>
        <p:nvSpPr>
          <p:cNvPr id="134" name="Rounded Rectangle 133"/>
          <p:cNvSpPr/>
          <p:nvPr/>
        </p:nvSpPr>
        <p:spPr>
          <a:xfrm>
            <a:off x="7406640" y="4389120"/>
            <a:ext cx="1508760" cy="1216152"/>
          </a:xfrm>
          <a:prstGeom prst="roundRect">
            <a:avLst>
              <a:gd name="adj" fmla="val 10000"/>
            </a:avLst>
          </a:prstGeom>
          <a:solidFill>
            <a:srgbClr val="122132"/>
          </a:solidFill>
          <a:ln w="12700">
            <a:solidFill>
              <a:srgbClr val="60C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7452360" y="4526280"/>
            <a:ext cx="1417320" cy="274320"/>
          </a:xfrm>
          <a:prstGeom prst="rect">
            <a:avLst/>
          </a:prstGeom>
          <a:noFill/>
        </p:spPr>
        <p:txBody>
          <a:bodyPr wrap="square" lIns="0" rIns="0" tIns="0" bIns="0" anchor="ctr">
            <a:spAutoFit/>
          </a:bodyPr>
          <a:lstStyle/>
          <a:p>
            <a:pPr algn="ctr">
              <a:spcAft>
                <a:spcPts val="0"/>
              </a:spcAft>
            </a:pPr>
            <a:r>
              <a:rPr sz="1300" b="1">
                <a:solidFill>
                  <a:srgbClr val="60C7F0"/>
                </a:solidFill>
                <a:latin typeface="Helvetica Neue"/>
              </a:rPr>
              <a:t>SUMMARIZER</a:t>
            </a:r>
          </a:p>
        </p:txBody>
      </p:sp>
      <p:sp>
        <p:nvSpPr>
          <p:cNvPr id="136" name="TextBox 135"/>
          <p:cNvSpPr txBox="1"/>
          <p:nvPr/>
        </p:nvSpPr>
        <p:spPr>
          <a:xfrm>
            <a:off x="7452360" y="4892040"/>
            <a:ext cx="1417320" cy="502920"/>
          </a:xfrm>
          <a:prstGeom prst="rect">
            <a:avLst/>
          </a:prstGeom>
          <a:noFill/>
        </p:spPr>
        <p:txBody>
          <a:bodyPr wrap="square" lIns="0" rIns="0" tIns="0" bIns="0" anchor="ctr">
            <a:spAutoFit/>
          </a:bodyPr>
          <a:lstStyle/>
          <a:p>
            <a:pPr algn="ctr">
              <a:spcAft>
                <a:spcPts val="0"/>
              </a:spcAft>
            </a:pPr>
            <a:r>
              <a:rPr sz="950" b="0">
                <a:solidFill>
                  <a:srgbClr val="A8BBCD"/>
                </a:solidFill>
                <a:latin typeface="Helvetica Neue"/>
              </a:rPr>
              <a:t>Order validated</a:t>
            </a:r>
          </a:p>
          <a:p>
            <a:pPr algn="ctr">
              <a:spcAft>
                <a:spcPts val="0"/>
              </a:spcAft>
            </a:pPr>
            <a:r>
              <a:rPr sz="950" b="0">
                <a:solidFill>
                  <a:srgbClr val="A8BBCD"/>
                </a:solidFill>
                <a:latin typeface="Helvetica Neue"/>
              </a:rPr>
              <a:t>findings for report</a:t>
            </a:r>
          </a:p>
        </p:txBody>
      </p:sp>
      <p:cxnSp>
        <p:nvCxnSpPr>
          <p:cNvPr id="137" name="Connector 136"/>
          <p:cNvCxnSpPr/>
          <p:nvPr/>
        </p:nvCxnSpPr>
        <p:spPr>
          <a:xfrm flipV="1">
            <a:off x="8595360" y="3246120"/>
            <a:ext cx="0" cy="1143000"/>
          </a:xfrm>
          <a:prstGeom prst="line">
            <a:avLst/>
          </a:prstGeom>
          <a:ln w="17780">
            <a:solidFill>
              <a:srgbClr val="60C7F0"/>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H="1">
            <a:off x="7498079" y="3246120"/>
            <a:ext cx="1097281" cy="0"/>
          </a:xfrm>
          <a:prstGeom prst="line">
            <a:avLst/>
          </a:prstGeom>
          <a:ln w="17780">
            <a:solidFill>
              <a:srgbClr val="60C7F0"/>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7498079" y="2935224"/>
            <a:ext cx="0" cy="310896"/>
          </a:xfrm>
          <a:prstGeom prst="line">
            <a:avLst/>
          </a:prstGeom>
          <a:ln w="17780">
            <a:solidFill>
              <a:srgbClr val="60C7F0"/>
            </a:solidFill>
            <a:tailEnd type="triangle"/>
          </a:ln>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7543800" y="3291840"/>
            <a:ext cx="1024128" cy="182880"/>
          </a:xfrm>
          <a:prstGeom prst="rect">
            <a:avLst/>
          </a:prstGeom>
          <a:noFill/>
        </p:spPr>
        <p:txBody>
          <a:bodyPr wrap="square" lIns="0" rIns="0" tIns="0" bIns="0" anchor="ctr">
            <a:spAutoFit/>
          </a:bodyPr>
          <a:lstStyle/>
          <a:p>
            <a:pPr algn="l">
              <a:spcAft>
                <a:spcPts val="0"/>
              </a:spcAft>
            </a:pPr>
            <a:r>
              <a:rPr sz="850" b="0">
                <a:solidFill>
                  <a:srgbClr val="60C7F0"/>
                </a:solidFill>
                <a:latin typeface="Helvetica Neue"/>
              </a:rPr>
              <a:t>results &amp; report</a:t>
            </a:r>
          </a:p>
        </p:txBody>
      </p:sp>
      <p:cxnSp>
        <p:nvCxnSpPr>
          <p:cNvPr id="141" name="Connector 140"/>
          <p:cNvCxnSpPr/>
          <p:nvPr/>
        </p:nvCxnSpPr>
        <p:spPr>
          <a:xfrm>
            <a:off x="9418320" y="2935224"/>
            <a:ext cx="0" cy="1453896"/>
          </a:xfrm>
          <a:prstGeom prst="line">
            <a:avLst/>
          </a:prstGeom>
          <a:ln w="17780">
            <a:solidFill>
              <a:srgbClr val="61D2BD"/>
            </a:solidFill>
            <a:tailEnd type="triangle"/>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9491472" y="3291840"/>
            <a:ext cx="1463040" cy="182880"/>
          </a:xfrm>
          <a:prstGeom prst="rect">
            <a:avLst/>
          </a:prstGeom>
          <a:noFill/>
        </p:spPr>
        <p:txBody>
          <a:bodyPr wrap="square" lIns="0" rIns="0" tIns="0" bIns="0" anchor="ctr">
            <a:spAutoFit/>
          </a:bodyPr>
          <a:lstStyle/>
          <a:p>
            <a:pPr algn="l">
              <a:spcAft>
                <a:spcPts val="0"/>
              </a:spcAft>
            </a:pPr>
            <a:r>
              <a:rPr sz="850" b="0">
                <a:solidFill>
                  <a:srgbClr val="61D2BD"/>
                </a:solidFill>
                <a:latin typeface="Helvetica Neue"/>
              </a:rPr>
              <a:t>selected findings</a:t>
            </a:r>
          </a:p>
        </p:txBody>
      </p:sp>
      <p:sp>
        <p:nvSpPr>
          <p:cNvPr id="143" name="Rounded Rectangle 142"/>
          <p:cNvSpPr/>
          <p:nvPr/>
        </p:nvSpPr>
        <p:spPr>
          <a:xfrm>
            <a:off x="9189720" y="4389120"/>
            <a:ext cx="2221992" cy="1216152"/>
          </a:xfrm>
          <a:prstGeom prst="roundRect">
            <a:avLst>
              <a:gd name="adj" fmla="val 10000"/>
            </a:avLst>
          </a:prstGeom>
          <a:solidFill>
            <a:srgbClr val="122132"/>
          </a:solidFill>
          <a:ln w="12700">
            <a:solidFill>
              <a:srgbClr val="61D2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9281160" y="4526280"/>
            <a:ext cx="2039112" cy="274320"/>
          </a:xfrm>
          <a:prstGeom prst="rect">
            <a:avLst/>
          </a:prstGeom>
          <a:noFill/>
        </p:spPr>
        <p:txBody>
          <a:bodyPr wrap="square" lIns="0" rIns="0" tIns="0" bIns="0" anchor="ctr">
            <a:spAutoFit/>
          </a:bodyPr>
          <a:lstStyle/>
          <a:p>
            <a:pPr algn="ctr">
              <a:spcAft>
                <a:spcPts val="0"/>
              </a:spcAft>
            </a:pPr>
            <a:r>
              <a:rPr sz="1300" b="1">
                <a:solidFill>
                  <a:srgbClr val="61D2BD"/>
                </a:solidFill>
                <a:latin typeface="Helvetica Neue"/>
              </a:rPr>
              <a:t>REMEDIATOR</a:t>
            </a:r>
          </a:p>
        </p:txBody>
      </p:sp>
      <p:sp>
        <p:nvSpPr>
          <p:cNvPr id="145" name="TextBox 144"/>
          <p:cNvSpPr txBox="1"/>
          <p:nvPr/>
        </p:nvSpPr>
        <p:spPr>
          <a:xfrm>
            <a:off x="9281160" y="4892040"/>
            <a:ext cx="2039112" cy="502920"/>
          </a:xfrm>
          <a:prstGeom prst="rect">
            <a:avLst/>
          </a:prstGeom>
          <a:noFill/>
        </p:spPr>
        <p:txBody>
          <a:bodyPr wrap="square" lIns="0" rIns="0" tIns="0" bIns="0" anchor="ctr">
            <a:spAutoFit/>
          </a:bodyPr>
          <a:lstStyle/>
          <a:p>
            <a:pPr algn="ctr">
              <a:spcAft>
                <a:spcPts val="0"/>
              </a:spcAft>
            </a:pPr>
            <a:r>
              <a:rPr sz="950" b="0">
                <a:solidFill>
                  <a:srgbClr val="A8BBCD"/>
                </a:solidFill>
                <a:latin typeface="Helvetica Neue"/>
              </a:rPr>
              <a:t>Select reviewed fix recipes</a:t>
            </a:r>
          </a:p>
          <a:p>
            <a:pPr algn="ctr">
              <a:spcAft>
                <a:spcPts val="0"/>
              </a:spcAft>
            </a:pPr>
            <a:r>
              <a:rPr sz="950" b="0">
                <a:solidFill>
                  <a:srgbClr val="A8BBCD"/>
                </a:solidFill>
                <a:latin typeface="Helvetica Neue"/>
              </a:rPr>
              <a:t>Preview → human approval</a:t>
            </a:r>
          </a:p>
        </p:txBody>
      </p:sp>
      <p:cxnSp>
        <p:nvCxnSpPr>
          <p:cNvPr id="146" name="Connector 145"/>
          <p:cNvCxnSpPr/>
          <p:nvPr/>
        </p:nvCxnSpPr>
        <p:spPr>
          <a:xfrm flipV="1">
            <a:off x="11155680" y="2935224"/>
            <a:ext cx="0" cy="1453896"/>
          </a:xfrm>
          <a:prstGeom prst="line">
            <a:avLst/>
          </a:prstGeom>
          <a:ln w="17780">
            <a:solidFill>
              <a:srgbClr val="61D2BD"/>
            </a:solidFill>
            <a:tailEnd type="triangle"/>
          </a:ln>
        </p:spPr>
        <p:style>
          <a:lnRef idx="2">
            <a:schemeClr val="accent1"/>
          </a:lnRef>
          <a:fillRef idx="0">
            <a:schemeClr val="accent1"/>
          </a:fillRef>
          <a:effectRef idx="1">
            <a:schemeClr val="accent1"/>
          </a:effectRef>
          <a:fontRef idx="minor">
            <a:schemeClr val="tx1"/>
          </a:fontRef>
        </p:style>
      </p:cxnSp>
      <p:sp>
        <p:nvSpPr>
          <p:cNvPr id="147" name="TextBox 146"/>
          <p:cNvSpPr txBox="1"/>
          <p:nvPr/>
        </p:nvSpPr>
        <p:spPr>
          <a:xfrm>
            <a:off x="9710928" y="5696712"/>
            <a:ext cx="1700784" cy="365760"/>
          </a:xfrm>
          <a:prstGeom prst="rect">
            <a:avLst/>
          </a:prstGeom>
          <a:noFill/>
        </p:spPr>
        <p:txBody>
          <a:bodyPr wrap="square" lIns="0" rIns="0" tIns="0" bIns="0" anchor="ctr">
            <a:spAutoFit/>
          </a:bodyPr>
          <a:lstStyle/>
          <a:p>
            <a:pPr algn="ctr">
              <a:spcAft>
                <a:spcPts val="0"/>
              </a:spcAft>
            </a:pPr>
            <a:r>
              <a:rPr sz="900" b="0">
                <a:solidFill>
                  <a:srgbClr val="A8BBCD"/>
                </a:solidFill>
                <a:latin typeface="Helvetica Neue"/>
              </a:rPr>
              <a:t>Approved fixes → Testbot</a:t>
            </a:r>
          </a:p>
          <a:p>
            <a:pPr algn="ctr">
              <a:spcAft>
                <a:spcPts val="0"/>
              </a:spcAft>
            </a:pPr>
            <a:r>
              <a:rPr sz="900" b="0">
                <a:solidFill>
                  <a:srgbClr val="A8BBCD"/>
                </a:solidFill>
                <a:latin typeface="Helvetica Neue"/>
              </a:rPr>
              <a:t>retests saved cases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692</Words>
  <Application>Microsoft Macintosh PowerPoint</Application>
  <PresentationFormat>Widescreen</PresentationFormat>
  <Paragraphs>78</Paragraphs>
  <Slides>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Helvetica Neue</vt:lpstr>
      <vt:lpstr>Office Theme</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Jonathan Lee</cp:lastModifiedBy>
  <cp:revision>2</cp:revision>
  <dcterms:created xsi:type="dcterms:W3CDTF">2013-01-27T09:14:16Z</dcterms:created>
  <dcterms:modified xsi:type="dcterms:W3CDTF">2026-10-09T03:02:07Z</dcterms:modified>
  <cp:category/>
</cp:coreProperties>
</file>